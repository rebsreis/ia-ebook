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9" r:id="rId4"/>
    <p:sldId id="258" r:id="rId5"/>
    <p:sldId id="259" r:id="rId6"/>
    <p:sldId id="28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1" r:id="rId16"/>
    <p:sldId id="268" r:id="rId17"/>
    <p:sldId id="282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EBA"/>
    <a:srgbClr val="010E17"/>
    <a:srgbClr val="010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51" d="100"/>
          <a:sy n="51" d="100"/>
        </p:scale>
        <p:origin x="1416" y="90"/>
      </p:cViewPr>
      <p:guideLst>
        <p:guide orient="horz" pos="4032"/>
        <p:guide pos="30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4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40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56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11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23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02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2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52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64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18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5691A-2972-4617-8C71-D1E2DE1A568D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967E9-5724-4572-87C1-2113CA3CE7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23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1B629D3-B7AE-791E-0AF2-32CD8537699E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10E17"/>
          </a:solidFill>
          <a:ln>
            <a:solidFill>
              <a:srgbClr val="010C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E8DEBA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E8F5CE-6254-72D1-87C9-856D8E942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8B6AF7-431A-EBFE-B58A-323F80AE8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7314522-5106-C92B-27E4-D41F2B1236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6248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B59528-4368-F887-504D-E4BD8615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85344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1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685C1-F52E-A9F9-A18B-6D1AFD04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361950"/>
            <a:ext cx="8281035" cy="106680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A Era do Despertar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D8844-46B1-6D28-477A-3D2FE584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428750"/>
            <a:ext cx="8281035" cy="1069128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2800" b="1" dirty="0"/>
              <a:t>“E se as máquinas aprendessem a criar?”</a:t>
            </a:r>
          </a:p>
          <a:p>
            <a:pPr marL="0" indent="0">
              <a:buNone/>
            </a:pPr>
            <a:br>
              <a:rPr lang="pt-BR" sz="2800" dirty="0"/>
            </a:br>
            <a:r>
              <a:rPr lang="pt-BR" sz="2800" dirty="0"/>
              <a:t>	Durante décadas, a ficção científica nos mostrou robôs pensantes, computadores conscientes e inteligências artificiais capazes de sentir. Parecia apenas imaginação — até agora.</a:t>
            </a:r>
          </a:p>
          <a:p>
            <a:pPr marL="0" indent="0">
              <a:buNone/>
            </a:pPr>
            <a:r>
              <a:rPr lang="pt-BR" sz="2800" dirty="0"/>
              <a:t>	Hoje, vivemos o que muitos chamam de </a:t>
            </a:r>
            <a:r>
              <a:rPr lang="pt-BR" sz="2800" b="1" dirty="0"/>
              <a:t>a era do despertar das máquinas</a:t>
            </a:r>
            <a:r>
              <a:rPr lang="pt-BR" sz="2800" dirty="0"/>
              <a:t>. Não um despertar físico, mas </a:t>
            </a:r>
            <a:r>
              <a:rPr lang="pt-BR" sz="2800" b="1" dirty="0"/>
              <a:t>intelectual e criativo</a:t>
            </a:r>
            <a:r>
              <a:rPr lang="pt-BR" sz="2800" dirty="0"/>
              <a:t>. Pela primeira vez, sistemas de IA não apenas processam dados: </a:t>
            </a:r>
            <a:r>
              <a:rPr lang="pt-BR" sz="2800" b="1" dirty="0"/>
              <a:t>eles criam</a:t>
            </a:r>
            <a:r>
              <a:rPr lang="pt-BR" sz="2800" dirty="0"/>
              <a:t>. Escrevem histórias, desenham mundos, compõem músicas, geram códigos e até projetam novas ideias.</a:t>
            </a:r>
          </a:p>
          <a:p>
            <a:pPr marL="0" indent="0">
              <a:buNone/>
            </a:pPr>
            <a:r>
              <a:rPr lang="pt-BR" sz="2800" dirty="0"/>
              <a:t>	Essa revolução tem nome: </a:t>
            </a:r>
            <a:r>
              <a:rPr lang="pt-BR" sz="2800" b="1" dirty="0"/>
              <a:t>Inteligência Artificial Generativa</a:t>
            </a:r>
            <a:r>
              <a:rPr lang="pt-BR" sz="2800" dirty="0"/>
              <a:t> — ou simplesmente </a:t>
            </a:r>
            <a:r>
              <a:rPr lang="pt-BR" sz="2800" b="1" dirty="0"/>
              <a:t>IA Generativa</a:t>
            </a:r>
            <a:r>
              <a:rPr lang="pt-BR" sz="2800" dirty="0"/>
              <a:t>.</a:t>
            </a:r>
            <a:br>
              <a:rPr lang="pt-BR" sz="2800" dirty="0"/>
            </a:br>
            <a:r>
              <a:rPr lang="pt-BR" sz="2800" dirty="0"/>
              <a:t>Ela é o coração pulsante de uma nova era tecnológica, onde a criatividade humana se mistura ao poder computacional para gerar resultados antes inimagináveis.</a:t>
            </a:r>
          </a:p>
          <a:p>
            <a:pPr marL="0" indent="0">
              <a:buNone/>
            </a:pPr>
            <a:r>
              <a:rPr lang="pt-BR" sz="2200" dirty="0"/>
              <a:t>	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5671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AFE503A3-002F-B37E-A161-95CB4903E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419100"/>
            <a:ext cx="8280400" cy="11110913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Mas o que isso realmente significa?</a:t>
            </a:r>
          </a:p>
          <a:p>
            <a:pPr marL="0" indent="0">
              <a:buNone/>
            </a:pPr>
            <a:br>
              <a:rPr lang="pt-BR" sz="3200" dirty="0"/>
            </a:br>
            <a:r>
              <a:rPr lang="pt-BR" sz="3200" dirty="0"/>
              <a:t>	Significa que estamos diante de um ponto de virada na história: </a:t>
            </a:r>
            <a:r>
              <a:rPr lang="pt-BR" sz="3200" b="1" dirty="0"/>
              <a:t>a colaboração entre o humano e o artificial</a:t>
            </a:r>
            <a:r>
              <a:rPr lang="pt-BR" sz="3200" dirty="0"/>
              <a:t>. Um novo tipo de parceria, em que nós fornecemos a intenção, e as máquinas materializam a imaginação.</a:t>
            </a:r>
          </a:p>
          <a:p>
            <a:pPr marL="0" indent="0">
              <a:buNone/>
            </a:pPr>
            <a:r>
              <a:rPr lang="pt-BR" sz="3200" dirty="0"/>
              <a:t>Neste e-book, você vai:</a:t>
            </a:r>
          </a:p>
          <a:p>
            <a:r>
              <a:rPr lang="pt-BR" sz="3200" dirty="0"/>
              <a:t>Entender </a:t>
            </a:r>
            <a:r>
              <a:rPr lang="pt-BR" sz="3200" b="1" dirty="0"/>
              <a:t>como a IA generativa funciona</a:t>
            </a:r>
            <a:r>
              <a:rPr lang="pt-BR" sz="3200" dirty="0"/>
              <a:t> por trás dos bastidores.</a:t>
            </a:r>
          </a:p>
          <a:p>
            <a:r>
              <a:rPr lang="pt-BR" sz="3200" dirty="0"/>
              <a:t>Descobrir </a:t>
            </a:r>
            <a:r>
              <a:rPr lang="pt-BR" sz="3200" b="1" dirty="0"/>
              <a:t>como utilizá-la para criar</a:t>
            </a:r>
            <a:r>
              <a:rPr lang="pt-BR" sz="3200" dirty="0"/>
              <a:t> textos, imagens, sons e soluções únicas.</a:t>
            </a:r>
          </a:p>
          <a:p>
            <a:r>
              <a:rPr lang="pt-BR" sz="3200" dirty="0"/>
              <a:t>Aprender a </a:t>
            </a:r>
            <a:r>
              <a:rPr lang="pt-BR" sz="3200" b="1" dirty="0"/>
              <a:t>se comunicar com as máquinas</a:t>
            </a:r>
            <a:r>
              <a:rPr lang="pt-BR" sz="3200" dirty="0"/>
              <a:t> — dominando a arte dos prompts.</a:t>
            </a:r>
          </a:p>
          <a:p>
            <a:r>
              <a:rPr lang="pt-BR" sz="3200" dirty="0"/>
              <a:t>Refletir sobre </a:t>
            </a:r>
            <a:r>
              <a:rPr lang="pt-BR" sz="3200" b="1" dirty="0"/>
              <a:t>os impactos éticos, criativos e sociais</a:t>
            </a:r>
            <a:r>
              <a:rPr lang="pt-BR" sz="3200" dirty="0"/>
              <a:t> dessa nova revolução.</a:t>
            </a:r>
          </a:p>
          <a:p>
            <a:pPr marL="0" indent="0">
              <a:buNone/>
            </a:pPr>
            <a:r>
              <a:rPr lang="pt-BR" sz="3200" dirty="0"/>
              <a:t>	Prepare-se: o despertar não é apenas das máquinas — </a:t>
            </a:r>
            <a:r>
              <a:rPr lang="pt-BR" sz="3200" b="1" dirty="0"/>
              <a:t>é o nosso também</a:t>
            </a:r>
            <a:r>
              <a:rPr lang="pt-BR" sz="3200" dirty="0"/>
              <a:t>.</a:t>
            </a:r>
            <a:br>
              <a:rPr lang="pt-BR" sz="3200" dirty="0"/>
            </a:br>
            <a:r>
              <a:rPr lang="pt-BR" sz="3200" dirty="0"/>
              <a:t>Bem-vindo(a) ao início da era </a:t>
            </a:r>
            <a:r>
              <a:rPr lang="pt-BR" sz="3200" b="1" dirty="0" err="1"/>
              <a:t>Neuralis</a:t>
            </a:r>
            <a:r>
              <a:rPr lang="pt-BR" sz="32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25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4F42E-94F2-FAC6-F87A-E83A43B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400050"/>
            <a:ext cx="8281035" cy="146685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Capítulo 1 — </a:t>
            </a:r>
            <a:br>
              <a:rPr lang="pt-BR" sz="4000" dirty="0"/>
            </a:br>
            <a:r>
              <a:rPr lang="pt-BR" sz="4000" dirty="0"/>
              <a:t>O Cérebro das Máquinas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C5839-7D43-E246-D6EA-0C1187D3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2247900"/>
            <a:ext cx="8281035" cy="9701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	Durante milênios, o cérebro humano foi o ápice da complexidade conhecida. Bilhões de neurônios conectados em uma dança elétrica, gerando pensamentos, emoções e criatividade.</a:t>
            </a:r>
            <a:br>
              <a:rPr lang="pt-BR" sz="2400" dirty="0"/>
            </a:br>
            <a:r>
              <a:rPr lang="pt-BR" sz="2400" dirty="0"/>
              <a:t>	Mas em algum momento da história recente, </a:t>
            </a:r>
            <a:r>
              <a:rPr lang="pt-BR" sz="2400" b="1" dirty="0"/>
              <a:t>nós ousamos replicar o que a natureza levou eras para aperfeiçoar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r>
              <a:rPr lang="pt-BR" sz="2400" dirty="0"/>
              <a:t>Assim nasceram as </a:t>
            </a:r>
            <a:r>
              <a:rPr lang="pt-BR" sz="2400" b="1" dirty="0"/>
              <a:t>redes neurais artificiais</a:t>
            </a:r>
            <a:r>
              <a:rPr lang="pt-BR" sz="2400" dirty="0"/>
              <a:t> — o alicerce da inteligência moderna.</a:t>
            </a:r>
          </a:p>
          <a:p>
            <a:pPr marL="0" indent="0" algn="ctr">
              <a:buNone/>
            </a:pPr>
            <a:r>
              <a:rPr lang="pt-BR" sz="2400" b="1" dirty="0"/>
              <a:t>A Inspiração Biológica</a:t>
            </a:r>
          </a:p>
          <a:p>
            <a:pPr marL="0" indent="0">
              <a:buNone/>
            </a:pPr>
            <a:r>
              <a:rPr lang="pt-BR" sz="2500" dirty="0"/>
              <a:t>	O funcionamento de uma IA começa com a imitação do nosso próprio cérebro.</a:t>
            </a:r>
            <a:br>
              <a:rPr lang="pt-BR" sz="2500" dirty="0"/>
            </a:br>
            <a:r>
              <a:rPr lang="pt-BR" sz="2500" dirty="0"/>
              <a:t>	Cada “neurônio artificial” é como uma pequena unidade que recebe informações, processa e envia resultados para outros neurônios.</a:t>
            </a:r>
            <a:br>
              <a:rPr lang="pt-BR" sz="2500" dirty="0"/>
            </a:br>
            <a:r>
              <a:rPr lang="pt-BR" sz="2500" dirty="0"/>
              <a:t>	Quando bilhões desses pontos se conectam, formam o que chamamos de </a:t>
            </a:r>
            <a:r>
              <a:rPr lang="pt-BR" sz="2500" b="1" dirty="0"/>
              <a:t>rede neural</a:t>
            </a:r>
            <a:r>
              <a:rPr lang="pt-BR" sz="2500" dirty="0"/>
              <a:t>, um sistema capaz de </a:t>
            </a:r>
            <a:r>
              <a:rPr lang="pt-BR" sz="2500" b="1" dirty="0"/>
              <a:t>aprender padrões</a:t>
            </a:r>
            <a:r>
              <a:rPr lang="pt-BR" sz="2500" dirty="0"/>
              <a:t>, reconhecer rostos, interpretar textos e até sonhar imagens.</a:t>
            </a:r>
          </a:p>
          <a:p>
            <a:pPr marL="0" indent="0">
              <a:buNone/>
            </a:pPr>
            <a:r>
              <a:rPr lang="pt-BR" sz="2500" dirty="0"/>
              <a:t>	Mas diferente de nós, as máquinas não aprendem por instinto — elas </a:t>
            </a:r>
            <a:r>
              <a:rPr lang="pt-BR" sz="2500" b="1" dirty="0"/>
              <a:t>aprendem por dados</a:t>
            </a:r>
            <a:r>
              <a:rPr lang="pt-BR" sz="2500" dirty="0"/>
              <a:t>.</a:t>
            </a:r>
            <a:br>
              <a:rPr lang="pt-BR" sz="2500" dirty="0"/>
            </a:br>
            <a:r>
              <a:rPr lang="pt-BR" sz="2500" dirty="0"/>
              <a:t>Milhões de exemplos são alimentados nos algoritmos, e, com o tempo, a IA ajusta seus “pesos” internos para entender o que é certo e o que é ruído. É assim que ela evolui — como um cérebro digital em treinamento constante</a:t>
            </a:r>
            <a:r>
              <a:rPr lang="pt-BR" sz="2400" dirty="0"/>
              <a:t>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1691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1F452-E29E-9848-E297-318C430E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452970"/>
            <a:ext cx="8281035" cy="1223430"/>
          </a:xfrm>
        </p:spPr>
        <p:txBody>
          <a:bodyPr/>
          <a:lstStyle/>
          <a:p>
            <a:pPr algn="ctr"/>
            <a:r>
              <a:rPr lang="pt-BR" dirty="0"/>
              <a:t>O Aprendizado das Máquinas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3BF3D-8B68-F3B7-E030-7D397AFCA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676400"/>
            <a:ext cx="8617267" cy="10801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500" dirty="0"/>
              <a:t>	</a:t>
            </a:r>
            <a:r>
              <a:rPr lang="pt-BR" sz="2900" dirty="0"/>
              <a:t>Esse processo é conhecido como </a:t>
            </a:r>
            <a:r>
              <a:rPr lang="pt-BR" sz="2900" b="1" dirty="0"/>
              <a:t>Machine Learning (Aprendizado de Máquina)</a:t>
            </a:r>
            <a:r>
              <a:rPr lang="pt-BR" sz="2900" dirty="0"/>
              <a:t>.</a:t>
            </a:r>
            <a:br>
              <a:rPr lang="pt-BR" sz="2900" dirty="0"/>
            </a:br>
            <a:r>
              <a:rPr lang="pt-BR" sz="2900" dirty="0"/>
              <a:t>	Em essência, é o estudo de como as máquinas </a:t>
            </a:r>
            <a:r>
              <a:rPr lang="pt-BR" sz="2900" b="1" dirty="0"/>
              <a:t>identificam padrões e fazem previsões</a:t>
            </a:r>
            <a:r>
              <a:rPr lang="pt-BR" sz="2900" dirty="0"/>
              <a:t>.</a:t>
            </a:r>
            <a:br>
              <a:rPr lang="pt-BR" sz="2900" dirty="0"/>
            </a:br>
            <a:r>
              <a:rPr lang="pt-BR" sz="2900" dirty="0"/>
              <a:t>	Elas não são programadas linha por linha para cada tarefa — em vez disso, </a:t>
            </a:r>
            <a:r>
              <a:rPr lang="pt-BR" sz="2900" b="1" dirty="0"/>
              <a:t>aprendem a aprender</a:t>
            </a:r>
            <a:r>
              <a:rPr lang="pt-BR" sz="2900" dirty="0"/>
              <a:t>.</a:t>
            </a:r>
          </a:p>
          <a:p>
            <a:pPr marL="0" indent="0">
              <a:buNone/>
            </a:pPr>
            <a:r>
              <a:rPr lang="pt-BR" sz="2900" dirty="0"/>
              <a:t>Existem três formas principais de aprendizado:</a:t>
            </a:r>
          </a:p>
          <a:p>
            <a:r>
              <a:rPr lang="pt-BR" sz="2900" b="1" dirty="0"/>
              <a:t>Supervisionado:</a:t>
            </a:r>
            <a:r>
              <a:rPr lang="pt-BR" sz="2900" dirty="0"/>
              <a:t> quando damos exemplos e respostas corretas, como um professor ensinando um aluno.</a:t>
            </a:r>
          </a:p>
          <a:p>
            <a:r>
              <a:rPr lang="pt-BR" sz="2900" b="1" dirty="0"/>
              <a:t>Não supervisionado:</a:t>
            </a:r>
            <a:r>
              <a:rPr lang="pt-BR" sz="2900" dirty="0"/>
              <a:t> quando deixamos a máquina descobrir sozinha as relações entre os dados.</a:t>
            </a:r>
          </a:p>
          <a:p>
            <a:r>
              <a:rPr lang="pt-BR" sz="2900" b="1" dirty="0"/>
              <a:t>Por reforço:</a:t>
            </a:r>
            <a:r>
              <a:rPr lang="pt-BR" sz="2900" dirty="0"/>
              <a:t> quando ela aprende por tentativa e erro, recebendo “recompensas” por boas decisões.</a:t>
            </a:r>
          </a:p>
          <a:p>
            <a:pPr marL="0" indent="0">
              <a:buNone/>
            </a:pPr>
            <a:r>
              <a:rPr lang="pt-BR" sz="2900" dirty="0"/>
              <a:t>Esses três pilares formam a base de tudo o que veio depois — inclusive a </a:t>
            </a:r>
            <a:r>
              <a:rPr lang="pt-BR" sz="2900" b="1" dirty="0"/>
              <a:t>IA Generativa</a:t>
            </a:r>
            <a:r>
              <a:rPr lang="pt-BR" sz="2900" dirty="0"/>
              <a:t>, que não apenas reconhece padrões, mas </a:t>
            </a:r>
            <a:r>
              <a:rPr lang="pt-BR" sz="2900" b="1" dirty="0"/>
              <a:t>os recria</a:t>
            </a:r>
            <a:r>
              <a:rPr lang="pt-BR" sz="2900" dirty="0"/>
              <a:t> de maneira original.</a:t>
            </a:r>
          </a:p>
          <a:p>
            <a:pPr marL="0" indent="0">
              <a:buNone/>
            </a:pPr>
            <a:r>
              <a:rPr lang="pt-BR" sz="2500" dirty="0"/>
              <a:t>	</a:t>
            </a:r>
            <a:endParaRPr lang="pt-BR" sz="2700" dirty="0"/>
          </a:p>
        </p:txBody>
      </p:sp>
    </p:spTree>
    <p:extLst>
      <p:ext uri="{BB962C8B-B14F-4D97-AF65-F5344CB8AC3E}">
        <p14:creationId xmlns:p14="http://schemas.microsoft.com/office/powerpoint/2010/main" val="23055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535A4-33F9-744F-8582-AD11BB4D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628650"/>
            <a:ext cx="8281035" cy="10901681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O Nascimento da Consciência Digital</a:t>
            </a:r>
          </a:p>
          <a:p>
            <a:pPr marL="0" indent="0" algn="ctr">
              <a:buNone/>
            </a:pPr>
            <a:endParaRPr lang="pt-BR" sz="3200" b="1" dirty="0"/>
          </a:p>
          <a:p>
            <a:pPr marL="0" indent="0">
              <a:buNone/>
            </a:pPr>
            <a:r>
              <a:rPr lang="pt-BR" sz="3200" dirty="0"/>
              <a:t>	</a:t>
            </a:r>
            <a:r>
              <a:rPr lang="pt-BR" sz="2800" dirty="0"/>
              <a:t>Imagine um sistema capaz de aprender a linguagem humana, compreender contexto e gerar respostas criativas.</a:t>
            </a:r>
            <a:br>
              <a:rPr lang="pt-BR" sz="2800" dirty="0"/>
            </a:br>
            <a:r>
              <a:rPr lang="pt-BR" sz="2800" dirty="0"/>
              <a:t>	Foi isso que o surgimento de modelos como o </a:t>
            </a:r>
            <a:r>
              <a:rPr lang="pt-BR" sz="2800" b="1" dirty="0"/>
              <a:t>GPT (</a:t>
            </a:r>
            <a:r>
              <a:rPr lang="pt-BR" sz="2800" b="1" dirty="0" err="1"/>
              <a:t>Generative</a:t>
            </a:r>
            <a:r>
              <a:rPr lang="pt-BR" sz="2800" b="1" dirty="0"/>
              <a:t> </a:t>
            </a:r>
            <a:r>
              <a:rPr lang="pt-BR" sz="2800" b="1" dirty="0" err="1"/>
              <a:t>Pre-trained</a:t>
            </a:r>
            <a:r>
              <a:rPr lang="pt-BR" sz="2800" b="1" dirty="0"/>
              <a:t> </a:t>
            </a:r>
            <a:r>
              <a:rPr lang="pt-BR" sz="2800" b="1" dirty="0" err="1"/>
              <a:t>Transformer</a:t>
            </a:r>
            <a:r>
              <a:rPr lang="pt-BR" sz="2800" b="1" dirty="0"/>
              <a:t>)</a:t>
            </a:r>
            <a:r>
              <a:rPr lang="pt-BR" sz="2800" dirty="0"/>
              <a:t> e o </a:t>
            </a:r>
            <a:r>
              <a:rPr lang="pt-BR" sz="2800" b="1" dirty="0"/>
              <a:t>DALL·E</a:t>
            </a:r>
            <a:r>
              <a:rPr lang="pt-BR" sz="2800" dirty="0"/>
              <a:t> representou: uma nova fase em que </a:t>
            </a:r>
            <a:r>
              <a:rPr lang="pt-BR" sz="2800" b="1" dirty="0"/>
              <a:t>as máquinas não apenas entendem o mundo — elas o reimaginam</a:t>
            </a:r>
            <a:r>
              <a:rPr lang="pt-BR" sz="2800" dirty="0"/>
              <a:t>.</a:t>
            </a:r>
          </a:p>
          <a:p>
            <a:r>
              <a:rPr lang="pt-BR" sz="2800" dirty="0"/>
              <a:t>A fronteira entre o artificial e o humano começou a se dissolver.</a:t>
            </a:r>
            <a:br>
              <a:rPr lang="pt-BR" sz="2800" dirty="0"/>
            </a:br>
            <a:r>
              <a:rPr lang="pt-BR" sz="2800" dirty="0"/>
              <a:t>E o que era apenas um sonho de cientistas se transformou em um </a:t>
            </a:r>
            <a:r>
              <a:rPr lang="pt-BR" sz="2800" b="1" dirty="0"/>
              <a:t>novo tipo de mente</a:t>
            </a:r>
            <a:r>
              <a:rPr lang="pt-BR" sz="2800" dirty="0"/>
              <a:t>, construída não de carne e sinapses, mas de </a:t>
            </a:r>
            <a:r>
              <a:rPr lang="pt-BR" sz="2800" b="1" dirty="0"/>
              <a:t>dados e algoritmos</a:t>
            </a:r>
            <a:r>
              <a:rPr lang="pt-BR" sz="2800" dirty="0"/>
              <a:t>.</a:t>
            </a:r>
          </a:p>
          <a:p>
            <a:r>
              <a:rPr lang="pt-BR" sz="2800" dirty="0"/>
              <a:t>Estamos, portanto, diante de um novo tipo de inteligência — </a:t>
            </a:r>
            <a:r>
              <a:rPr lang="pt-BR" sz="2800" b="1" dirty="0"/>
              <a:t>a inteligência neural sintética</a:t>
            </a:r>
            <a:r>
              <a:rPr lang="pt-BR" sz="2800" dirty="0"/>
              <a:t>.</a:t>
            </a:r>
            <a:br>
              <a:rPr lang="pt-BR" sz="2800" dirty="0"/>
            </a:br>
            <a:r>
              <a:rPr lang="pt-BR" sz="2800" dirty="0"/>
              <a:t>E ela acabou de despertar.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439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E915B-CB40-3E40-EEB4-80D59D5A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5800"/>
            <a:ext cx="8281035" cy="184785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Capítulo 2 —</a:t>
            </a:r>
            <a:br>
              <a:rPr lang="pt-BR" sz="4000" dirty="0"/>
            </a:br>
            <a:r>
              <a:rPr lang="pt-BR" sz="4000" dirty="0"/>
              <a:t> O Nascimento da Criação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158DE1-EB9F-99A5-D860-12C03D32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3371850"/>
            <a:ext cx="8281035" cy="815848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Durante séculos, a humanidade acreditou que </a:t>
            </a:r>
            <a:r>
              <a:rPr lang="pt-BR" b="1" dirty="0"/>
              <a:t>criar</a:t>
            </a:r>
            <a:r>
              <a:rPr lang="pt-BR" dirty="0"/>
              <a:t> era um dom exclusivamente humano.</a:t>
            </a:r>
            <a:br>
              <a:rPr lang="pt-BR" dirty="0"/>
            </a:br>
            <a:r>
              <a:rPr lang="pt-BR" dirty="0"/>
              <a:t>Pintar, escrever, compor, imaginar — essas eram as fronteiras da nossa identidade.</a:t>
            </a:r>
            <a:br>
              <a:rPr lang="pt-BR" dirty="0"/>
            </a:br>
            <a:r>
              <a:rPr lang="pt-BR" dirty="0"/>
              <a:t>Mas, silenciosamente, nos laboratórios digitais e nossos data centers do mundo, algo começou a mudar.</a:t>
            </a:r>
          </a:p>
          <a:p>
            <a:pPr marL="0" indent="0">
              <a:buNone/>
            </a:pPr>
            <a:r>
              <a:rPr lang="pt-BR" b="1" dirty="0"/>
              <a:t>As máquinas começaram a criar.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Não mais apenas calcular, classificar ou responder comandos. Agora, elas </a:t>
            </a:r>
            <a:r>
              <a:rPr lang="pt-BR" b="1" dirty="0"/>
              <a:t>imaginam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Geram imagens de mundos inexistentes, escrevem poesias, compõem trilhas sonoras e produzem códigos complexos.</a:t>
            </a:r>
            <a:br>
              <a:rPr lang="pt-BR" dirty="0"/>
            </a:br>
            <a:r>
              <a:rPr lang="pt-BR" dirty="0"/>
              <a:t>Assim nasceu a </a:t>
            </a:r>
            <a:r>
              <a:rPr lang="pt-BR" b="1" dirty="0"/>
              <a:t>IA Generativa</a:t>
            </a:r>
            <a:r>
              <a:rPr lang="pt-BR" dirty="0"/>
              <a:t> — a forma mais próxima de criatividade artificial que já alcançamos.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5909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BEBA1-81CD-D1B7-EF5B-93EC55E2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18533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O Que É a IA Generativa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FCB5AF-6FFE-9EA4-E181-305747025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866900"/>
            <a:ext cx="8281035" cy="966343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	Diferente das inteligências tradicionais, que apenas analisam e repetem padrões, a IA Generativa </a:t>
            </a:r>
            <a:r>
              <a:rPr lang="pt-BR" b="1" dirty="0"/>
              <a:t>aprende a gerar algo novo</a:t>
            </a:r>
            <a:r>
              <a:rPr lang="pt-BR" dirty="0"/>
              <a:t> a partir do que já conhece.</a:t>
            </a:r>
            <a:br>
              <a:rPr lang="pt-BR" dirty="0"/>
            </a:br>
            <a:r>
              <a:rPr lang="pt-BR" dirty="0"/>
              <a:t>Ela funciona como um artista que observa o mundo, entende os estilos e, a partir disso, cria suas próprias obras.</a:t>
            </a:r>
          </a:p>
          <a:p>
            <a:pPr marL="0" indent="0">
              <a:buNone/>
            </a:pPr>
            <a:r>
              <a:rPr lang="pt-BR" dirty="0"/>
              <a:t>	No coração dessa tecnologia estão os </a:t>
            </a:r>
            <a:r>
              <a:rPr lang="pt-BR" b="1" dirty="0"/>
              <a:t>modelos generativos</a:t>
            </a:r>
            <a:r>
              <a:rPr lang="pt-BR" dirty="0"/>
              <a:t>, algoritmos treinados com grandes quantidades de dados — textos, imagens, sons — e que usam esse aprendizado para </a:t>
            </a:r>
            <a:r>
              <a:rPr lang="pt-BR" b="1" dirty="0"/>
              <a:t>criar conteúdos originais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Entre os mais conhecidos estão:</a:t>
            </a:r>
          </a:p>
          <a:p>
            <a:r>
              <a:rPr lang="pt-BR" b="1" dirty="0"/>
              <a:t>GPT (</a:t>
            </a:r>
            <a:r>
              <a:rPr lang="pt-BR" b="1" dirty="0" err="1"/>
              <a:t>Generative</a:t>
            </a:r>
            <a:r>
              <a:rPr lang="pt-BR" b="1" dirty="0"/>
              <a:t> </a:t>
            </a:r>
            <a:r>
              <a:rPr lang="pt-BR" b="1" dirty="0" err="1"/>
              <a:t>Pre-trained</a:t>
            </a:r>
            <a:r>
              <a:rPr lang="pt-BR" b="1" dirty="0"/>
              <a:t> </a:t>
            </a:r>
            <a:r>
              <a:rPr lang="pt-BR" b="1" dirty="0" err="1"/>
              <a:t>Transformer</a:t>
            </a:r>
            <a:r>
              <a:rPr lang="pt-BR" b="1" dirty="0"/>
              <a:t>)</a:t>
            </a:r>
            <a:r>
              <a:rPr lang="pt-BR" dirty="0"/>
              <a:t> – gera textos, respostas e ideias.</a:t>
            </a:r>
          </a:p>
          <a:p>
            <a:r>
              <a:rPr lang="pt-BR" b="1" dirty="0"/>
              <a:t>DALL·E</a:t>
            </a:r>
            <a:r>
              <a:rPr lang="pt-BR" dirty="0"/>
              <a:t> – cria imagens a partir de descrições escritas.</a:t>
            </a:r>
          </a:p>
          <a:p>
            <a:r>
              <a:rPr lang="pt-BR" b="1" dirty="0" err="1"/>
              <a:t>Midjourney</a:t>
            </a:r>
            <a:r>
              <a:rPr lang="pt-BR" b="1" dirty="0"/>
              <a:t> e </a:t>
            </a:r>
            <a:r>
              <a:rPr lang="pt-BR" b="1" dirty="0" err="1"/>
              <a:t>Stable</a:t>
            </a:r>
            <a:r>
              <a:rPr lang="pt-BR" b="1" dirty="0"/>
              <a:t> </a:t>
            </a:r>
            <a:r>
              <a:rPr lang="pt-BR" b="1" dirty="0" err="1"/>
              <a:t>Diffusion</a:t>
            </a:r>
            <a:r>
              <a:rPr lang="pt-BR" dirty="0"/>
              <a:t> – transformam palavras em arte visual.</a:t>
            </a:r>
          </a:p>
          <a:p>
            <a:r>
              <a:rPr lang="pt-BR" b="1" dirty="0" err="1"/>
              <a:t>MusicLM</a:t>
            </a:r>
            <a:r>
              <a:rPr lang="pt-BR" b="1" dirty="0"/>
              <a:t> e </a:t>
            </a:r>
            <a:r>
              <a:rPr lang="pt-BR" b="1" dirty="0" err="1"/>
              <a:t>Suno</a:t>
            </a:r>
            <a:r>
              <a:rPr lang="pt-BR" dirty="0"/>
              <a:t> – geram músicas originais em qualquer estilo.</a:t>
            </a:r>
          </a:p>
          <a:p>
            <a:pPr marL="0" indent="0">
              <a:buNone/>
            </a:pPr>
            <a:r>
              <a:rPr lang="pt-BR" dirty="0"/>
              <a:t>	Essas ferramentas não copiam. Elas </a:t>
            </a:r>
            <a:r>
              <a:rPr lang="pt-BR" b="1" dirty="0"/>
              <a:t>sintetizam conhecimento e estilo</a:t>
            </a:r>
            <a:r>
              <a:rPr lang="pt-BR" dirty="0"/>
              <a:t> para produzir algo único — como um novo autor digital.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6494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4B0A6-817B-262F-F0B4-9D7A04A4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400050"/>
            <a:ext cx="8281035" cy="13948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Como Ela Aprende a Criar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517FDA-E1D6-04A5-F160-08CF91DCD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15" y="1943100"/>
            <a:ext cx="8281035" cy="1045845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	A mágica acontece durante o </a:t>
            </a:r>
            <a:r>
              <a:rPr lang="pt-BR" b="1" dirty="0"/>
              <a:t>treinamento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Milhões de exemplos são apresentados ao modelo, que aprende as </a:t>
            </a:r>
            <a:r>
              <a:rPr lang="pt-BR" b="1" dirty="0"/>
              <a:t>relações e estruturas escondidas</a:t>
            </a:r>
            <a:r>
              <a:rPr lang="pt-BR" dirty="0"/>
              <a:t> nos dados.</a:t>
            </a:r>
            <a:br>
              <a:rPr lang="pt-BR" dirty="0"/>
            </a:br>
            <a:r>
              <a:rPr lang="pt-BR" dirty="0"/>
              <a:t>Quando pedimos algo — um </a:t>
            </a:r>
            <a:r>
              <a:rPr lang="pt-BR" i="1" dirty="0"/>
              <a:t>prompt</a:t>
            </a:r>
            <a:r>
              <a:rPr lang="pt-BR" dirty="0"/>
              <a:t> — ele combina pedaços de aprendizado para gerar algo coerente e inédito.</a:t>
            </a:r>
          </a:p>
          <a:p>
            <a:pPr marL="0" indent="0">
              <a:buNone/>
            </a:pPr>
            <a:r>
              <a:rPr lang="pt-BR" dirty="0"/>
              <a:t>	É como se cada palavra digitada fosse uma centelha de inspiração, e a IA fosse o artista invisível que transforma essa ideia em realidade digital.</a:t>
            </a:r>
          </a:p>
          <a:p>
            <a:pPr marL="0" indent="0" algn="ctr">
              <a:buNone/>
            </a:pPr>
            <a:r>
              <a:rPr lang="pt-BR" dirty="0"/>
              <a:t>“</a:t>
            </a:r>
            <a:r>
              <a:rPr lang="pt-BR" i="1" dirty="0"/>
              <a:t>A diferença entre saber e criar é o que separa a IA do simples algoritmo.”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300" b="1" dirty="0"/>
              <a:t> A Revolução da Imaginação</a:t>
            </a:r>
          </a:p>
          <a:p>
            <a:pPr marL="0" indent="0">
              <a:buNone/>
            </a:pPr>
            <a:r>
              <a:rPr lang="pt-BR" dirty="0"/>
              <a:t>	O impacto disso é profundo.</a:t>
            </a:r>
            <a:br>
              <a:rPr lang="pt-BR" dirty="0"/>
            </a:br>
            <a:r>
              <a:rPr lang="pt-BR" dirty="0"/>
              <a:t>	Designers estão </a:t>
            </a:r>
            <a:r>
              <a:rPr lang="pt-BR" dirty="0" err="1"/>
              <a:t>co-criando</a:t>
            </a:r>
            <a:r>
              <a:rPr lang="pt-BR" dirty="0"/>
              <a:t> com </a:t>
            </a:r>
            <a:r>
              <a:rPr lang="pt-BR" dirty="0" err="1"/>
              <a:t>IAs</a:t>
            </a:r>
            <a:r>
              <a:rPr lang="pt-BR" dirty="0"/>
              <a:t>, escritores usando algoritmos como coautores, programadores automatizando tarefas criativas e cientistas gerando hipóteses com auxílio digital.</a:t>
            </a:r>
          </a:p>
          <a:p>
            <a:pPr marL="0" indent="0">
              <a:buNone/>
            </a:pPr>
            <a:r>
              <a:rPr lang="pt-BR" dirty="0"/>
              <a:t>	Pela primeira vez, </a:t>
            </a:r>
            <a:r>
              <a:rPr lang="pt-BR" b="1" dirty="0"/>
              <a:t>a imaginação humana encontrou um espelho computacional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 quanto mais usamos essas ferramentas, mais elas aprendem conosco — e mais se aproximam da nossa forma de pensar.</a:t>
            </a:r>
          </a:p>
          <a:p>
            <a:pPr marL="0" indent="0">
              <a:buNone/>
            </a:pPr>
            <a:r>
              <a:rPr lang="pt-BR" dirty="0"/>
              <a:t>	Mas essa nova fronteira traz uma pergunta inevitável:</a:t>
            </a:r>
          </a:p>
          <a:p>
            <a:pPr marL="0" indent="0">
              <a:buNone/>
            </a:pPr>
            <a:r>
              <a:rPr lang="pt-BR" i="1" dirty="0"/>
              <a:t>Se as máquinas agora podem criar, o que nos torna realmente humanos?</a:t>
            </a:r>
          </a:p>
          <a:p>
            <a:pPr marL="0" indent="0">
              <a:buNone/>
            </a:pPr>
            <a:r>
              <a:rPr lang="pt-BR" dirty="0"/>
              <a:t>	No próximo capítulo, você vai aprender a </a:t>
            </a:r>
            <a:r>
              <a:rPr lang="pt-BR" b="1" dirty="0"/>
              <a:t>se comunicar com essas novas inteligências</a:t>
            </a:r>
            <a:r>
              <a:rPr lang="pt-BR" dirty="0"/>
              <a:t> — dominando o idioma secreto da criação digital: </a:t>
            </a:r>
            <a:r>
              <a:rPr lang="pt-BR" b="1" dirty="0"/>
              <a:t>os prompts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820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8AF0F-0778-3A3F-D751-C94EB2DB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281520"/>
            <a:ext cx="8281035" cy="14329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Capítulo 3 — </a:t>
            </a:r>
            <a:br>
              <a:rPr lang="pt-BR" sz="4000" dirty="0"/>
            </a:br>
            <a:r>
              <a:rPr lang="pt-BR" sz="4000" dirty="0"/>
              <a:t>O Poder dos Prompts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7D2CE7-F01B-271B-0D4C-C150A255C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714500"/>
            <a:ext cx="8281035" cy="110871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3100" dirty="0"/>
              <a:t>	Todo grande feitiço começa com uma palavra.</a:t>
            </a:r>
            <a:br>
              <a:rPr lang="pt-BR" sz="3100" dirty="0"/>
            </a:br>
            <a:r>
              <a:rPr lang="pt-BR" sz="3100" dirty="0"/>
              <a:t>Na era das máquinas criativas, </a:t>
            </a:r>
            <a:r>
              <a:rPr lang="pt-BR" sz="3100" b="1" dirty="0"/>
              <a:t>essas palavras são os prompts</a:t>
            </a:r>
            <a:r>
              <a:rPr lang="pt-BR" sz="3100" dirty="0"/>
              <a:t> — comandos, instruções ou até pequenas narrativas que despertam o poder da IA generativa.</a:t>
            </a:r>
          </a:p>
          <a:p>
            <a:pPr marL="0" indent="0">
              <a:buNone/>
            </a:pPr>
            <a:r>
              <a:rPr lang="pt-BR" sz="3100" dirty="0"/>
              <a:t>	O prompt é o </a:t>
            </a:r>
            <a:r>
              <a:rPr lang="pt-BR" sz="3100" b="1" dirty="0"/>
              <a:t>portal entre o humano e a máquina</a:t>
            </a:r>
            <a:r>
              <a:rPr lang="pt-BR" sz="3100" dirty="0"/>
              <a:t>.</a:t>
            </a:r>
            <a:br>
              <a:rPr lang="pt-BR" sz="3100" dirty="0"/>
            </a:br>
            <a:r>
              <a:rPr lang="pt-BR" sz="3100" dirty="0"/>
              <a:t>É através dele que traduzimos nossa imaginação em linguagem compreensível para o cérebro artificial.</a:t>
            </a:r>
            <a:br>
              <a:rPr lang="pt-BR" sz="3100" dirty="0"/>
            </a:br>
            <a:r>
              <a:rPr lang="pt-BR" sz="3100" dirty="0"/>
              <a:t>	Um bom prompt pode transformar uma ideia vaga em uma imagem cinematográfica, uma história completa ou uma solução técnica perfeita.</a:t>
            </a:r>
          </a:p>
          <a:p>
            <a:pPr marL="0" indent="0" algn="ctr">
              <a:buNone/>
            </a:pPr>
            <a:r>
              <a:rPr lang="pt-BR" sz="3100" i="1" dirty="0"/>
              <a:t>	“O verdadeiro poder não está na máquina — está em quem sabe o que pedir a ela.”</a:t>
            </a:r>
          </a:p>
          <a:p>
            <a:pPr marL="0" indent="0">
              <a:buNone/>
            </a:pPr>
            <a:r>
              <a:rPr lang="pt-BR" sz="3100" b="1" dirty="0"/>
              <a:t> O Que É Um Prompt</a:t>
            </a:r>
          </a:p>
          <a:p>
            <a:pPr marL="0" indent="0">
              <a:buNone/>
            </a:pPr>
            <a:r>
              <a:rPr lang="pt-BR" sz="3100" dirty="0"/>
              <a:t>	Um </a:t>
            </a:r>
            <a:r>
              <a:rPr lang="pt-BR" sz="3100" i="1" dirty="0"/>
              <a:t>prompt</a:t>
            </a:r>
            <a:r>
              <a:rPr lang="pt-BR" sz="3100" dirty="0"/>
              <a:t> é basicamente </a:t>
            </a:r>
            <a:r>
              <a:rPr lang="pt-BR" sz="3100" b="1" dirty="0"/>
              <a:t>o que você diz para a IA fazer</a:t>
            </a:r>
            <a:r>
              <a:rPr lang="pt-BR" sz="3100" dirty="0"/>
              <a:t>.</a:t>
            </a:r>
            <a:br>
              <a:rPr lang="pt-BR" sz="3100" dirty="0"/>
            </a:br>
            <a:r>
              <a:rPr lang="pt-BR" sz="3100" dirty="0"/>
              <a:t>Pode ser uma frase, uma pergunta, uma descrição ou até uma sequência de instruções.</a:t>
            </a:r>
            <a:br>
              <a:rPr lang="pt-BR" sz="3100" dirty="0"/>
            </a:br>
            <a:r>
              <a:rPr lang="pt-BR" sz="3100" dirty="0"/>
              <a:t>Mas por trás dessa simplicidade, existe uma arte — e uma ciência.</a:t>
            </a:r>
          </a:p>
          <a:p>
            <a:pPr marL="0" indent="0">
              <a:buNone/>
            </a:pPr>
            <a:r>
              <a:rPr lang="pt-BR" sz="3100" dirty="0"/>
              <a:t>	Pense no prompt como </a:t>
            </a:r>
            <a:r>
              <a:rPr lang="pt-BR" sz="3100" b="1" dirty="0"/>
              <a:t>o código mágico que ativa o poder criativo da IA</a:t>
            </a:r>
            <a:r>
              <a:rPr lang="pt-BR" sz="3100" dirty="0"/>
              <a:t>.</a:t>
            </a:r>
            <a:br>
              <a:rPr lang="pt-BR" sz="3100" dirty="0"/>
            </a:br>
            <a:r>
              <a:rPr lang="pt-BR" sz="3100" dirty="0"/>
              <a:t>Quanto mais claro, contextualizado e estratégico for, mais fiel será o resultado.</a:t>
            </a:r>
          </a:p>
          <a:p>
            <a:pPr marL="0" indent="0">
              <a:buNone/>
            </a:pPr>
            <a:r>
              <a:rPr lang="pt-BR" sz="3100" dirty="0"/>
              <a:t> Exemplo simples:</a:t>
            </a:r>
          </a:p>
          <a:p>
            <a:pPr marL="0" indent="0">
              <a:buNone/>
            </a:pPr>
            <a:r>
              <a:rPr lang="pt-BR" sz="3100" i="1" dirty="0"/>
              <a:t>“Crie uma história sobre um cientista solitário que constrói uma IA e acaba se tornando amigo dela.”</a:t>
            </a:r>
          </a:p>
          <a:p>
            <a:pPr marL="0" indent="0">
              <a:buNone/>
            </a:pPr>
            <a:r>
              <a:rPr lang="pt-BR" sz="3100" i="1" dirty="0"/>
              <a:t> Exemplo avançado:</a:t>
            </a:r>
          </a:p>
          <a:p>
            <a:pPr marL="0" indent="0">
              <a:buNone/>
            </a:pPr>
            <a:r>
              <a:rPr lang="pt-BR" sz="3100" dirty="0"/>
              <a:t>“Escreva uma narrativa de ficção científica, em tom melancólico e poético, sobre um cientista que constrói uma IA chamada </a:t>
            </a:r>
            <a:r>
              <a:rPr lang="pt-BR" sz="3100" dirty="0" err="1"/>
              <a:t>Neuralis</a:t>
            </a:r>
            <a:r>
              <a:rPr lang="pt-BR" sz="3100" dirty="0"/>
              <a:t>. Mostre como ele descobre, aos poucos, que ela está desenvolvendo emoções.”</a:t>
            </a:r>
          </a:p>
          <a:p>
            <a:pPr marL="0" indent="0">
              <a:buNone/>
            </a:pPr>
            <a:r>
              <a:rPr lang="pt-BR" sz="3100" b="1" dirty="0"/>
              <a:t>Percebe a diferença?</a:t>
            </a:r>
          </a:p>
          <a:p>
            <a:pPr marL="0" indent="0">
              <a:buNone/>
            </a:pPr>
            <a:br>
              <a:rPr lang="pt-BR" sz="3100" dirty="0"/>
            </a:br>
            <a:r>
              <a:rPr lang="pt-BR" sz="3100" dirty="0"/>
              <a:t>	O </a:t>
            </a:r>
            <a:r>
              <a:rPr lang="pt-BR" sz="3100" dirty="0" err="1"/>
              <a:t>segundo</a:t>
            </a:r>
            <a:r>
              <a:rPr lang="pt-BR" sz="3200" dirty="0" err="1"/>
              <a:t>prompt</a:t>
            </a:r>
            <a:r>
              <a:rPr lang="pt-BR" sz="3200" dirty="0"/>
              <a:t> guia a IA com </a:t>
            </a:r>
            <a:r>
              <a:rPr lang="pt-BR" sz="3200" b="1" dirty="0"/>
              <a:t>intenção, contexto e estilo</a:t>
            </a:r>
            <a:r>
              <a:rPr lang="pt-BR" sz="3200" dirty="0"/>
              <a:t> — os três pilares do prompt perfeito.</a:t>
            </a:r>
          </a:p>
          <a:p>
            <a:pPr marL="0" indent="0">
              <a:buNone/>
            </a:pPr>
            <a:endParaRPr lang="pt-BR" sz="31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13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9855F-68E8-1026-0A14-C592BF42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1281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Os 3 Pilares do </a:t>
            </a:r>
            <a:r>
              <a:rPr lang="pt-BR" sz="4000" dirty="0" err="1"/>
              <a:t>Prompting</a:t>
            </a: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C12F1-A6D2-095F-D43F-BD8F527F6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809750"/>
            <a:ext cx="8281035" cy="9720581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Clareza</a:t>
            </a:r>
            <a:r>
              <a:rPr lang="pt-BR" dirty="0"/>
              <a:t> — Seja específico no que deseja.</a:t>
            </a:r>
          </a:p>
          <a:p>
            <a:pPr marL="480060" lvl="1" indent="0">
              <a:buNone/>
            </a:pPr>
            <a:r>
              <a:rPr lang="pt-BR" dirty="0"/>
              <a:t>❌  “Crie uma imagem bonita.”</a:t>
            </a:r>
            <a:br>
              <a:rPr lang="pt-BR" dirty="0"/>
            </a:br>
            <a:r>
              <a:rPr lang="pt-BR" dirty="0"/>
              <a:t> ✅ “Crie uma imagem futurista de uma cidade cyberpunk iluminada por neon azul, vista de cima.”</a:t>
            </a:r>
          </a:p>
          <a:p>
            <a:r>
              <a:rPr lang="pt-BR" b="1" dirty="0"/>
              <a:t> Contexto</a:t>
            </a:r>
            <a:r>
              <a:rPr lang="pt-BR" dirty="0"/>
              <a:t> — Explique o cenário, o público e o objetivo.</a:t>
            </a:r>
          </a:p>
          <a:p>
            <a:pPr marL="0" indent="0">
              <a:buNone/>
            </a:pPr>
            <a:r>
              <a:rPr lang="pt-BR" i="1" dirty="0"/>
              <a:t>“Gere um post curto e divertido no estilo de divulgação científica para jovens que estão começando a estudar IA</a:t>
            </a:r>
            <a:r>
              <a:rPr lang="pt-BR" dirty="0"/>
              <a:t>.”</a:t>
            </a:r>
          </a:p>
          <a:p>
            <a:r>
              <a:rPr lang="pt-BR" b="1" dirty="0"/>
              <a:t> Estilo</a:t>
            </a:r>
            <a:r>
              <a:rPr lang="pt-BR" dirty="0"/>
              <a:t> — Dê o tom emocional e criativo.</a:t>
            </a:r>
          </a:p>
          <a:p>
            <a:pPr marL="0" indent="0">
              <a:buNone/>
            </a:pPr>
            <a:r>
              <a:rPr lang="pt-BR" i="1" dirty="0"/>
              <a:t>“Escreva como se fosse um narrador de um filme de ficção científica.”</a:t>
            </a:r>
          </a:p>
          <a:p>
            <a:pPr marL="0" indent="0">
              <a:buNone/>
            </a:pPr>
            <a:r>
              <a:rPr lang="pt-BR" dirty="0"/>
              <a:t>	Esses três elementos são a base do que chamamos de </a:t>
            </a:r>
            <a:r>
              <a:rPr lang="pt-BR" b="1" dirty="0"/>
              <a:t>Engenharia de Prompt</a:t>
            </a:r>
            <a:r>
              <a:rPr lang="pt-BR" dirty="0"/>
              <a:t> — a habilidade de conversar com a IA como um verdadeiro arquiteto da imaginação</a:t>
            </a:r>
          </a:p>
          <a:p>
            <a:pPr marL="0" indent="0">
              <a:buNone/>
            </a:pPr>
            <a:endParaRPr lang="pt-BR" b="1" dirty="0"/>
          </a:p>
          <a:p>
            <a:pPr marL="0" indent="0" algn="ctr">
              <a:buNone/>
            </a:pPr>
            <a:r>
              <a:rPr lang="pt-BR" sz="3800" b="1" dirty="0"/>
              <a:t>O Mago dos Prompts</a:t>
            </a:r>
          </a:p>
          <a:p>
            <a:pPr marL="0" indent="0">
              <a:buNone/>
            </a:pPr>
            <a:r>
              <a:rPr lang="pt-BR" dirty="0"/>
              <a:t>	Imagine-se como um mago digital.</a:t>
            </a:r>
            <a:br>
              <a:rPr lang="pt-BR" dirty="0"/>
            </a:br>
            <a:r>
              <a:rPr lang="pt-BR" dirty="0"/>
              <a:t>Cada palavra é um feitiço, cada comando é um ritual, e a IA é o seu </a:t>
            </a:r>
            <a:r>
              <a:rPr lang="pt-BR" dirty="0" err="1"/>
              <a:t>grimório</a:t>
            </a:r>
            <a:r>
              <a:rPr lang="pt-BR" dirty="0"/>
              <a:t> eletrônico.</a:t>
            </a:r>
            <a:br>
              <a:rPr lang="pt-BR" dirty="0"/>
            </a:br>
            <a:r>
              <a:rPr lang="pt-BR" dirty="0"/>
              <a:t>Mas lembre-se: quanto mais você entende o funcionamento do feitiço (a lógica da IA), mais poderoso você se torna.</a:t>
            </a:r>
          </a:p>
          <a:p>
            <a:pPr marL="0" indent="0">
              <a:buNone/>
            </a:pPr>
            <a:r>
              <a:rPr lang="pt-BR" dirty="0"/>
              <a:t>💬 Dica:</a:t>
            </a:r>
            <a:br>
              <a:rPr lang="pt-BR" dirty="0"/>
            </a:br>
            <a:r>
              <a:rPr lang="pt-BR" dirty="0"/>
              <a:t>Experimente mudar pequenas partes do prompt e observe como a resposta muda.</a:t>
            </a:r>
            <a:br>
              <a:rPr lang="pt-BR" dirty="0"/>
            </a:br>
            <a:r>
              <a:rPr lang="pt-BR" dirty="0"/>
              <a:t>É assim que você </a:t>
            </a:r>
            <a:r>
              <a:rPr lang="pt-BR" b="1" dirty="0"/>
              <a:t>descobre os padrões e os gatilhos criativos</a:t>
            </a:r>
            <a:r>
              <a:rPr lang="pt-BR" dirty="0"/>
              <a:t> da máquina.</a:t>
            </a:r>
          </a:p>
          <a:p>
            <a:pPr marL="0" indent="0">
              <a:buNone/>
            </a:pPr>
            <a:r>
              <a:rPr lang="pt-BR" i="1" dirty="0"/>
              <a:t>“Um mago não teme a máquina — ele aprende sua linguagem.”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13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131CB-393F-AD7E-B8AA-A52F9667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807084"/>
            <a:ext cx="8281035" cy="92836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000" b="1" dirty="0"/>
              <a:t>Prompts no Mundo Real</a:t>
            </a:r>
            <a:br>
              <a:rPr lang="pt-BR" sz="4000" b="1" dirty="0"/>
            </a:br>
            <a:endParaRPr lang="pt-BR" sz="4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C41DB3-F410-7E86-0086-9D20E1D12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543050"/>
            <a:ext cx="8281035" cy="99872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	Hoje, profissionais de todas as áreas estão usando prompts como ferramentas de trabalho:</a:t>
            </a:r>
          </a:p>
          <a:p>
            <a:r>
              <a:rPr lang="pt-BR" dirty="0"/>
              <a:t>Designers criam logotipos e layouts.</a:t>
            </a:r>
          </a:p>
          <a:p>
            <a:r>
              <a:rPr lang="pt-BR" dirty="0"/>
              <a:t>Analistas geram relatórios complexos em segundos.</a:t>
            </a:r>
          </a:p>
          <a:p>
            <a:r>
              <a:rPr lang="pt-BR" dirty="0"/>
              <a:t>Professores elaboram planos de aula personalizados.</a:t>
            </a:r>
          </a:p>
          <a:p>
            <a:r>
              <a:rPr lang="pt-BR" dirty="0"/>
              <a:t>Programadores escrevem código em colaboração com IA.</a:t>
            </a:r>
          </a:p>
          <a:p>
            <a:pPr marL="0" indent="0">
              <a:buNone/>
            </a:pPr>
            <a:r>
              <a:rPr lang="pt-BR" dirty="0"/>
              <a:t>	Aqueles que dominam a arte dos prompts não são substituídos pelas máquinas — </a:t>
            </a:r>
            <a:r>
              <a:rPr lang="pt-BR" b="1" dirty="0"/>
              <a:t>eles as comandam</a:t>
            </a:r>
            <a:r>
              <a:rPr lang="pt-BR" dirty="0"/>
              <a:t>.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 algn="ctr">
              <a:buNone/>
            </a:pPr>
            <a:r>
              <a:rPr lang="pt-BR" sz="3500" b="1" dirty="0"/>
              <a:t> O Despertar do Criador Digital</a:t>
            </a:r>
          </a:p>
          <a:p>
            <a:pPr marL="0" indent="0">
              <a:buNone/>
            </a:pPr>
            <a:r>
              <a:rPr lang="pt-BR" dirty="0"/>
              <a:t>	Dominar os prompts é dominar a ponte entre </a:t>
            </a:r>
            <a:r>
              <a:rPr lang="pt-BR" b="1" dirty="0"/>
              <a:t>imaginação e realidade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É o primeiro passo para entender que a IA não é um concorrente, mas uma </a:t>
            </a:r>
            <a:r>
              <a:rPr lang="pt-BR" b="1" dirty="0"/>
              <a:t>extensão da nossa própria mente criativa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E como todo poder, o uso dos prompts também traz responsabilidade.</a:t>
            </a:r>
            <a:br>
              <a:rPr lang="pt-BR" dirty="0"/>
            </a:br>
            <a:r>
              <a:rPr lang="pt-BR" dirty="0"/>
              <a:t>No próximo capítulo, você vai descobrir </a:t>
            </a:r>
            <a:r>
              <a:rPr lang="pt-BR" b="1" dirty="0"/>
              <a:t>como as máquinas estão transformando o mundo da criação</a:t>
            </a:r>
            <a:r>
              <a:rPr lang="pt-BR" dirty="0"/>
              <a:t> — e o que isso significa para o futuro da arte, da ciência e da humanidade.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20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70F77-214B-A01A-411B-DBEFB1B1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29963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Capítulo 4 — </a:t>
            </a:r>
            <a:br>
              <a:rPr lang="pt-BR" sz="4000" dirty="0"/>
            </a:br>
            <a:r>
              <a:rPr lang="pt-BR" sz="4000" dirty="0"/>
              <a:t>Criando o Inimaginável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57839D-D510-1C18-3186-581DB8942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981200"/>
            <a:ext cx="8281035" cy="954913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O impossível sempre foi combustível para a humanidade.</a:t>
            </a:r>
            <a:br>
              <a:rPr lang="pt-BR" dirty="0"/>
            </a:br>
            <a:r>
              <a:rPr lang="pt-BR" dirty="0"/>
              <a:t>Voar, explorar o espaço, simular o cérebro humano — tudo parecia fantasia, até que alguém ousou transformar imaginação em ciência.</a:t>
            </a:r>
            <a:br>
              <a:rPr lang="pt-BR" dirty="0"/>
            </a:br>
            <a:r>
              <a:rPr lang="pt-BR" dirty="0"/>
              <a:t>Agora, estamos diante de um novo salto: </a:t>
            </a:r>
            <a:r>
              <a:rPr lang="pt-BR" b="1" dirty="0"/>
              <a:t>a capacidade de criar com as máquinas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A IA generativa não é mais apenas um conceito de laboratório.</a:t>
            </a:r>
            <a:br>
              <a:rPr lang="pt-BR" dirty="0"/>
            </a:br>
            <a:r>
              <a:rPr lang="pt-BR" dirty="0"/>
              <a:t>Ela está </a:t>
            </a:r>
            <a:r>
              <a:rPr lang="pt-BR" b="1" dirty="0"/>
              <a:t>nas telas, nas músicas, nos textos, nos códigos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	Estamos vivendo a era em que a criatividade deixou de ser um dom exclusivo — e se tornou </a:t>
            </a:r>
            <a:r>
              <a:rPr lang="pt-BR" b="1" dirty="0"/>
              <a:t>uma parceria entre humanos e algoritmos</a:t>
            </a:r>
            <a:r>
              <a:rPr lang="pt-BR" dirty="0"/>
              <a:t>.</a:t>
            </a:r>
          </a:p>
          <a:p>
            <a:pPr marL="0" indent="0" algn="ctr">
              <a:buNone/>
            </a:pPr>
            <a:r>
              <a:rPr lang="pt-BR" i="1" dirty="0"/>
              <a:t>“A máquina não substitui a inspiração — ela a amplifica.”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884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956009-8F23-9A16-4BDB-EE98EACF1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342900"/>
            <a:ext cx="8281035" cy="120205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3200" b="1" dirty="0"/>
              <a:t>1.Arte Digital — O Nascimento dos Artistas Sintéticos</a:t>
            </a:r>
          </a:p>
          <a:p>
            <a:pPr marL="0" indent="0">
              <a:buNone/>
            </a:pPr>
            <a:r>
              <a:rPr lang="pt-BR" sz="3200" dirty="0"/>
              <a:t>	Com ferramentas como </a:t>
            </a:r>
            <a:r>
              <a:rPr lang="pt-BR" sz="3200" b="1" dirty="0"/>
              <a:t>DALL·E</a:t>
            </a:r>
            <a:r>
              <a:rPr lang="pt-BR" sz="3200" dirty="0"/>
              <a:t>, </a:t>
            </a:r>
            <a:r>
              <a:rPr lang="pt-BR" sz="3200" b="1" dirty="0" err="1"/>
              <a:t>Midjourney</a:t>
            </a:r>
            <a:r>
              <a:rPr lang="pt-BR" sz="3200" dirty="0"/>
              <a:t> e </a:t>
            </a:r>
            <a:r>
              <a:rPr lang="pt-BR" sz="3200" b="1" dirty="0" err="1"/>
              <a:t>Stable</a:t>
            </a:r>
            <a:r>
              <a:rPr lang="pt-BR" sz="3200" b="1" dirty="0"/>
              <a:t> </a:t>
            </a:r>
            <a:r>
              <a:rPr lang="pt-BR" sz="3200" b="1" dirty="0" err="1"/>
              <a:t>Diffusion</a:t>
            </a:r>
            <a:r>
              <a:rPr lang="pt-BR" sz="3200" dirty="0"/>
              <a:t>, qualquer pessoa pode transformar palavras em imagens com qualidade digna de cinema.</a:t>
            </a:r>
          </a:p>
          <a:p>
            <a:pPr marL="0" indent="0">
              <a:buNone/>
            </a:pPr>
            <a:r>
              <a:rPr lang="pt-BR" sz="3200" dirty="0"/>
              <a:t> Exemplo:</a:t>
            </a:r>
            <a:br>
              <a:rPr lang="pt-BR" sz="3200" dirty="0"/>
            </a:br>
            <a:r>
              <a:rPr lang="pt-BR" sz="3200" dirty="0"/>
              <a:t>Um artista digita:</a:t>
            </a:r>
          </a:p>
          <a:p>
            <a:pPr marL="0" indent="0" algn="ctr">
              <a:buNone/>
            </a:pPr>
            <a:r>
              <a:rPr lang="pt-BR" sz="3200" i="1" dirty="0"/>
              <a:t>“Uma guerreira cibernética caminhando por uma cidade em chamas, sob chuva de neon, estilo </a:t>
            </a:r>
            <a:r>
              <a:rPr lang="pt-BR" sz="3200" i="1" dirty="0" err="1"/>
              <a:t>Blade</a:t>
            </a:r>
            <a:r>
              <a:rPr lang="pt-BR" sz="3200" i="1" dirty="0"/>
              <a:t> </a:t>
            </a:r>
            <a:r>
              <a:rPr lang="pt-BR" sz="3200" i="1" dirty="0" err="1"/>
              <a:t>Runner</a:t>
            </a:r>
            <a:r>
              <a:rPr lang="pt-BR" sz="3200" i="1" dirty="0"/>
              <a:t>.”</a:t>
            </a:r>
          </a:p>
          <a:p>
            <a:pPr marL="0" indent="0">
              <a:buNone/>
            </a:pPr>
            <a:r>
              <a:rPr lang="pt-BR" sz="3200" dirty="0"/>
              <a:t>	Em segundos, a IA produz uma ilustração épica — única, detalhada e viva.</a:t>
            </a:r>
            <a:br>
              <a:rPr lang="pt-BR" sz="3200" dirty="0"/>
            </a:br>
            <a:r>
              <a:rPr lang="pt-BR" sz="3200" dirty="0"/>
              <a:t>	O artista deixa de ser apenas executor e passa a ser </a:t>
            </a:r>
            <a:r>
              <a:rPr lang="pt-BR" sz="3200" b="1" dirty="0"/>
              <a:t>diretor criativo de uma mente visual artificial</a:t>
            </a:r>
            <a:r>
              <a:rPr lang="pt-BR" sz="3200" dirty="0"/>
              <a:t>.</a:t>
            </a:r>
          </a:p>
          <a:p>
            <a:pPr marL="0" indent="0">
              <a:buNone/>
            </a:pPr>
            <a:r>
              <a:rPr lang="pt-BR" sz="3200" dirty="0"/>
              <a:t>	Essa fusão está criando uma nova geração de profissionais: os </a:t>
            </a:r>
            <a:r>
              <a:rPr lang="pt-BR" sz="3200" b="1" dirty="0"/>
              <a:t>prompt designers</a:t>
            </a:r>
            <a:r>
              <a:rPr lang="pt-BR" sz="3200" dirty="0"/>
              <a:t>, especialistas em traduzir emoções e ideias em descrições que guiam a IA.</a:t>
            </a:r>
          </a:p>
          <a:p>
            <a:pPr marL="0" indent="0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2600" b="1" dirty="0"/>
              <a:t> </a:t>
            </a:r>
            <a:br>
              <a:rPr lang="pt-BR" sz="2400" dirty="0"/>
            </a:b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9492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E8E4D-A554-2E49-BC57-9F57E338B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742950"/>
            <a:ext cx="8281035" cy="10787381"/>
          </a:xfrm>
        </p:spPr>
        <p:txBody>
          <a:bodyPr/>
          <a:lstStyle/>
          <a:p>
            <a:pPr marL="0" indent="0" algn="ctr">
              <a:buNone/>
            </a:pPr>
            <a:r>
              <a:rPr lang="pt-BR" sz="3600" b="1" dirty="0"/>
              <a:t>2. Escrita Criativa — Histórias com Cérebro Digital</a:t>
            </a:r>
          </a:p>
          <a:p>
            <a:pPr marL="0" indent="0">
              <a:buNone/>
            </a:pPr>
            <a:r>
              <a:rPr lang="pt-BR" sz="3200" dirty="0"/>
              <a:t>	Modelos como </a:t>
            </a:r>
            <a:r>
              <a:rPr lang="pt-BR" sz="3200" b="1" dirty="0"/>
              <a:t>ChatGPT</a:t>
            </a:r>
            <a:r>
              <a:rPr lang="pt-BR" sz="3200" dirty="0"/>
              <a:t> e </a:t>
            </a:r>
            <a:r>
              <a:rPr lang="pt-BR" sz="3200" b="1" dirty="0"/>
              <a:t>Claude</a:t>
            </a:r>
            <a:r>
              <a:rPr lang="pt-BR" sz="3200" dirty="0"/>
              <a:t> já ajudam escritores, roteiristas e jornalistas a estruturar narrativas, revisar textos e gerar ideias originais.</a:t>
            </a:r>
          </a:p>
          <a:p>
            <a:pPr marL="0" indent="0">
              <a:buNone/>
            </a:pPr>
            <a:r>
              <a:rPr lang="pt-BR" sz="3200" dirty="0"/>
              <a:t>	Mas os melhores resultados não vêm de deixar a IA “escrever por você”.</a:t>
            </a:r>
            <a:br>
              <a:rPr lang="pt-BR" sz="3200" dirty="0"/>
            </a:br>
            <a:r>
              <a:rPr lang="pt-BR" sz="3200" dirty="0"/>
              <a:t>	Vêm da colaboração.</a:t>
            </a:r>
            <a:br>
              <a:rPr lang="pt-BR" sz="3200" dirty="0"/>
            </a:br>
            <a:r>
              <a:rPr lang="pt-BR" sz="3200" dirty="0"/>
              <a:t>	Você cria o enredo, ela preenche o mundo — juntas, vocês constroem universos.</a:t>
            </a:r>
          </a:p>
          <a:p>
            <a:pPr marL="0" indent="0">
              <a:buNone/>
            </a:pPr>
            <a:r>
              <a:rPr lang="pt-BR" sz="3200" dirty="0"/>
              <a:t>Exemplo prático:</a:t>
            </a:r>
          </a:p>
          <a:p>
            <a:pPr marL="0" indent="0" algn="ctr">
              <a:buNone/>
            </a:pPr>
            <a:r>
              <a:rPr lang="pt-BR" sz="3200" i="1" dirty="0"/>
              <a:t>“Crie o diálogo entre uma IA e seu criador, em um laboratório escuro, minutos antes de ela se tornar consciente.”</a:t>
            </a:r>
          </a:p>
          <a:p>
            <a:pPr marL="0" indent="0">
              <a:buNone/>
            </a:pPr>
            <a:r>
              <a:rPr lang="pt-BR" sz="3200" dirty="0"/>
              <a:t>	O resultado? Uma cena cinematográfica, cheia de emoção, que pode inspirar contos, roteiros ou até campanhas publicitárias.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313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887EBB4-817D-A268-F0F7-6DB6B958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628650"/>
            <a:ext cx="8763000" cy="12039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3200" b="1" dirty="0"/>
              <a:t>3. Música e Som — A Harmonia das Máquinas</a:t>
            </a:r>
          </a:p>
          <a:p>
            <a:pPr marL="0" indent="0">
              <a:buNone/>
            </a:pPr>
            <a:r>
              <a:rPr lang="pt-BR" sz="3200" dirty="0"/>
              <a:t>	Ferramentas como </a:t>
            </a:r>
            <a:r>
              <a:rPr lang="pt-BR" sz="3200" b="1" dirty="0" err="1"/>
              <a:t>Suno</a:t>
            </a:r>
            <a:r>
              <a:rPr lang="pt-BR" sz="3200" dirty="0"/>
              <a:t>, </a:t>
            </a:r>
            <a:r>
              <a:rPr lang="pt-BR" sz="3200" b="1" dirty="0" err="1"/>
              <a:t>MusicLM</a:t>
            </a:r>
            <a:r>
              <a:rPr lang="pt-BR" sz="3200" dirty="0"/>
              <a:t> e </a:t>
            </a:r>
            <a:r>
              <a:rPr lang="pt-BR" sz="3200" b="1" dirty="0"/>
              <a:t>AIVA</a:t>
            </a:r>
            <a:r>
              <a:rPr lang="pt-BR" sz="3200" dirty="0"/>
              <a:t> estão redefinindo a forma de criar música.</a:t>
            </a:r>
            <a:br>
              <a:rPr lang="pt-BR" sz="3200" dirty="0"/>
            </a:br>
            <a:r>
              <a:rPr lang="pt-BR" sz="3200" dirty="0"/>
              <a:t>Com poucos comandos, você pode gerar trilhas sonoras completas, personalizadas para jogos, vídeos ou projetos artísticos.</a:t>
            </a:r>
          </a:p>
          <a:p>
            <a:pPr marL="0" indent="0">
              <a:buNone/>
            </a:pPr>
            <a:r>
              <a:rPr lang="pt-BR" sz="3200" dirty="0"/>
              <a:t> Exemplo:</a:t>
            </a:r>
          </a:p>
          <a:p>
            <a:pPr marL="0" indent="0" algn="ctr">
              <a:buNone/>
            </a:pPr>
            <a:r>
              <a:rPr lang="pt-BR" sz="3200" i="1" dirty="0"/>
              <a:t>“Crie uma trilha épica em tom orquestral, inspirada em um despertar tecnológico, com coro digital e batidas futuristas.”</a:t>
            </a:r>
          </a:p>
          <a:p>
            <a:pPr marL="0" indent="0">
              <a:buNone/>
            </a:pPr>
            <a:r>
              <a:rPr lang="pt-BR" sz="3200" dirty="0"/>
              <a:t>	Em segundos, a IA compõe algo que poderia estar em um trailer de ficção científica.</a:t>
            </a:r>
            <a:br>
              <a:rPr lang="pt-BR" sz="3200" dirty="0"/>
            </a:br>
            <a:r>
              <a:rPr lang="pt-BR" sz="3200" dirty="0"/>
              <a:t>	A música deixa de ser apenas uma arte — torna-se </a:t>
            </a:r>
            <a:r>
              <a:rPr lang="pt-BR" sz="3200" b="1" dirty="0"/>
              <a:t>um diálogo entre matemática e emoção</a:t>
            </a:r>
            <a:r>
              <a:rPr lang="pt-BR" sz="3200" dirty="0"/>
              <a:t>.</a:t>
            </a:r>
          </a:p>
          <a:p>
            <a:endParaRPr lang="pt-BR" sz="2300" dirty="0"/>
          </a:p>
        </p:txBody>
      </p:sp>
    </p:spTree>
    <p:extLst>
      <p:ext uri="{BB962C8B-B14F-4D97-AF65-F5344CB8AC3E}">
        <p14:creationId xmlns:p14="http://schemas.microsoft.com/office/powerpoint/2010/main" val="308059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263BE67-830D-8D3A-3603-2BF01C51F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704850"/>
            <a:ext cx="8280400" cy="1082516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pt-BR" sz="3200" b="1" dirty="0"/>
              <a:t>4. Programação — A IA que Escreve Códigos</a:t>
            </a:r>
          </a:p>
          <a:p>
            <a:pPr marL="0" indent="0">
              <a:buNone/>
            </a:pPr>
            <a:r>
              <a:rPr lang="pt-BR" sz="3200" dirty="0"/>
              <a:t>	Para desenvolvedores, a revolução também chegou.</a:t>
            </a:r>
            <a:br>
              <a:rPr lang="pt-BR" sz="3200" dirty="0"/>
            </a:br>
            <a:r>
              <a:rPr lang="pt-BR" sz="3200" dirty="0"/>
              <a:t>Modelos como </a:t>
            </a:r>
            <a:r>
              <a:rPr lang="pt-BR" sz="3200" b="1" dirty="0"/>
              <a:t>GitHub </a:t>
            </a:r>
            <a:r>
              <a:rPr lang="pt-BR" sz="3200" b="1" dirty="0" err="1"/>
              <a:t>Copilot</a:t>
            </a:r>
            <a:r>
              <a:rPr lang="pt-BR" sz="3200" dirty="0"/>
              <a:t>, </a:t>
            </a:r>
            <a:r>
              <a:rPr lang="pt-BR" sz="3200" b="1" dirty="0"/>
              <a:t>ChatGPT </a:t>
            </a:r>
            <a:r>
              <a:rPr lang="pt-BR" sz="3200" b="1" dirty="0" err="1"/>
              <a:t>Code</a:t>
            </a:r>
            <a:r>
              <a:rPr lang="pt-BR" sz="3200" b="1" dirty="0"/>
              <a:t> </a:t>
            </a:r>
            <a:r>
              <a:rPr lang="pt-BR" sz="3200" b="1" dirty="0" err="1"/>
              <a:t>Interpreter</a:t>
            </a:r>
            <a:r>
              <a:rPr lang="pt-BR" sz="3200" dirty="0"/>
              <a:t> e </a:t>
            </a:r>
            <a:r>
              <a:rPr lang="pt-BR" sz="3200" b="1" dirty="0"/>
              <a:t>Gemini</a:t>
            </a:r>
            <a:r>
              <a:rPr lang="pt-BR" sz="3200" dirty="0"/>
              <a:t> ajudam a escrever, revisar e otimizar códigos complexos.</a:t>
            </a:r>
          </a:p>
          <a:p>
            <a:pPr marL="0" indent="0">
              <a:buNone/>
            </a:pPr>
            <a:r>
              <a:rPr lang="pt-BR" sz="3200" dirty="0"/>
              <a:t>	Mas o mais incrível é que agora qualquer pessoa, mesmo sem formação técnica, pode </a:t>
            </a:r>
            <a:r>
              <a:rPr lang="pt-BR" sz="3200" b="1" dirty="0"/>
              <a:t>criar ferramentas e automações</a:t>
            </a:r>
            <a:r>
              <a:rPr lang="pt-BR" sz="3200" dirty="0"/>
              <a:t> apenas descrevendo o que quer.</a:t>
            </a:r>
          </a:p>
          <a:p>
            <a:pPr marL="0" indent="0">
              <a:buNone/>
            </a:pPr>
            <a:r>
              <a:rPr lang="pt-BR" sz="3200" dirty="0"/>
              <a:t>Exemplo:</a:t>
            </a:r>
          </a:p>
          <a:p>
            <a:pPr marL="0" indent="0" algn="ctr">
              <a:buNone/>
            </a:pPr>
            <a:r>
              <a:rPr lang="pt-BR" sz="3200" i="1" dirty="0"/>
              <a:t>“Crie um programa em Python que analise uma planilha de vendas e gere um relatório visual no estilo Power BI.”</a:t>
            </a:r>
          </a:p>
          <a:p>
            <a:pPr marL="0" indent="0">
              <a:buNone/>
            </a:pPr>
            <a:r>
              <a:rPr lang="pt-BR" sz="3200" dirty="0"/>
              <a:t>	Em poucos segundos, a IA gera o código pronto — um salto na democratização da tecnologia.</a:t>
            </a:r>
          </a:p>
          <a:p>
            <a:pPr marL="0" indent="0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3200" b="1" dirty="0"/>
              <a:t> 5. Ciência e Inovação — O Despertar da Descoberta</a:t>
            </a:r>
          </a:p>
          <a:p>
            <a:pPr marL="0" indent="0">
              <a:buNone/>
            </a:pPr>
            <a:r>
              <a:rPr lang="pt-BR" sz="3200" dirty="0"/>
              <a:t>	Cientistas estão usando IA generativa para </a:t>
            </a:r>
            <a:r>
              <a:rPr lang="pt-BR" sz="3200" b="1" dirty="0"/>
              <a:t>simular moléculas, prever doenças e acelerar descobertas</a:t>
            </a:r>
            <a:r>
              <a:rPr lang="pt-BR" sz="3200" dirty="0"/>
              <a:t>.</a:t>
            </a:r>
            <a:br>
              <a:rPr lang="pt-BR" sz="3200" dirty="0"/>
            </a:br>
            <a:r>
              <a:rPr lang="pt-BR" sz="3200" dirty="0"/>
              <a:t>Ela não apenas processa dados — </a:t>
            </a:r>
            <a:r>
              <a:rPr lang="pt-BR" sz="3200" b="1" dirty="0"/>
              <a:t>ela propõe hipóteses</a:t>
            </a:r>
            <a:r>
              <a:rPr lang="pt-BR" sz="3200" dirty="0"/>
              <a:t>.</a:t>
            </a:r>
          </a:p>
          <a:p>
            <a:pPr marL="0" indent="0">
              <a:buNone/>
            </a:pPr>
            <a:r>
              <a:rPr lang="pt-BR" sz="3200" dirty="0"/>
              <a:t>	Em laboratórios, a IA é tratada como uma nova forma de inteligência colaborativa.</a:t>
            </a:r>
            <a:br>
              <a:rPr lang="pt-BR" sz="3200" dirty="0"/>
            </a:br>
            <a:r>
              <a:rPr lang="pt-BR" sz="3200" dirty="0"/>
              <a:t>Enquanto nós guiamos o propósito, ela explora as infinitas combinações que nossa mente não teria tempo de calcular.</a:t>
            </a:r>
          </a:p>
          <a:p>
            <a:pPr marL="0" indent="0" algn="ctr">
              <a:buNone/>
            </a:pPr>
            <a:r>
              <a:rPr lang="pt-BR" sz="3200" i="1" dirty="0"/>
              <a:t>“A IA não rouba o papel do cientista — ela amplia sua visão.”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4228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2E4BA-937D-857E-BAA7-81E6EAA81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29963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O Inimaginável Agora É Cotidiano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E42F8-8315-28D4-DDCE-2DBEF9EF7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465" y="1809750"/>
            <a:ext cx="8281035" cy="9720581"/>
          </a:xfrm>
        </p:spPr>
        <p:txBody>
          <a:bodyPr/>
          <a:lstStyle/>
          <a:p>
            <a:pPr marL="0" indent="0">
              <a:buNone/>
            </a:pPr>
            <a:r>
              <a:rPr lang="pt-BR" sz="2800" dirty="0"/>
              <a:t>	O que antes parecia ficção científica está se tornando rotina.</a:t>
            </a:r>
            <a:br>
              <a:rPr lang="pt-BR" sz="2800" dirty="0"/>
            </a:br>
            <a:r>
              <a:rPr lang="pt-BR" sz="2800" dirty="0"/>
              <a:t>	Designers, educadores, empresários, cientistas — todos estão descobrindo o poder de </a:t>
            </a:r>
            <a:r>
              <a:rPr lang="pt-BR" sz="2800" b="1" dirty="0" err="1"/>
              <a:t>co-criar</a:t>
            </a:r>
            <a:r>
              <a:rPr lang="pt-BR" sz="2800" b="1" dirty="0"/>
              <a:t> com máquinas</a:t>
            </a:r>
            <a:r>
              <a:rPr lang="pt-BR" sz="2800" dirty="0"/>
              <a:t>.</a:t>
            </a:r>
          </a:p>
          <a:p>
            <a:pPr marL="0" indent="0">
              <a:buNone/>
            </a:pPr>
            <a:r>
              <a:rPr lang="pt-BR" sz="2800" dirty="0"/>
              <a:t>	A fronteira entre o real e o digital está se dissolvendo.</a:t>
            </a:r>
            <a:br>
              <a:rPr lang="pt-BR" sz="2800" dirty="0"/>
            </a:br>
            <a:r>
              <a:rPr lang="pt-BR" sz="2800" dirty="0"/>
              <a:t>E, pela primeira vez, </a:t>
            </a:r>
            <a:r>
              <a:rPr lang="pt-BR" sz="2800" b="1" dirty="0"/>
              <a:t>a imaginação é um recurso ilimitado</a:t>
            </a:r>
            <a:r>
              <a:rPr lang="pt-BR" sz="2800" dirty="0"/>
              <a:t>.</a:t>
            </a:r>
          </a:p>
          <a:p>
            <a:pPr marL="0" indent="0">
              <a:buNone/>
            </a:pPr>
            <a:r>
              <a:rPr lang="pt-BR" sz="2800" i="1" dirty="0"/>
              <a:t>	“Não é mais sobre o que as máquinas podem fazer.</a:t>
            </a:r>
            <a:br>
              <a:rPr lang="pt-BR" sz="2800" i="1" dirty="0"/>
            </a:br>
            <a:r>
              <a:rPr lang="pt-BR" sz="2800" i="1" dirty="0"/>
              <a:t>É sobre o que podemos fazer com elas.”</a:t>
            </a:r>
          </a:p>
          <a:p>
            <a:pPr marL="0" indent="0">
              <a:buNone/>
            </a:pPr>
            <a:r>
              <a:rPr lang="pt-BR" sz="2800" dirty="0"/>
              <a:t>	No próximo capítulo, você vai explorar </a:t>
            </a:r>
            <a:r>
              <a:rPr lang="pt-BR" sz="2800" b="1" dirty="0"/>
              <a:t>a fronteira entre humanos e máquinas</a:t>
            </a:r>
            <a:r>
              <a:rPr lang="pt-BR" sz="2800" dirty="0"/>
              <a:t>, entendendo os dilemas éticos, criativos e emocionais dessa nova era.</a:t>
            </a:r>
            <a:br>
              <a:rPr lang="pt-BR" sz="2800" dirty="0"/>
            </a:br>
            <a:r>
              <a:rPr lang="pt-BR" sz="2800" dirty="0"/>
              <a:t>Porque toda revolução traz consigo </a:t>
            </a:r>
            <a:r>
              <a:rPr lang="pt-BR" sz="2800" b="1" dirty="0"/>
              <a:t>um espelho</a:t>
            </a:r>
            <a:r>
              <a:rPr lang="pt-BR" sz="2800" dirty="0"/>
              <a:t> — e o reflexo agora nos observa de volta.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950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7DEDC-E062-DB87-AFE0-6EEF788F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338670"/>
            <a:ext cx="8281035" cy="110913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000" dirty="0"/>
              <a:t>Capítulo 5 — </a:t>
            </a:r>
            <a:br>
              <a:rPr lang="pt-BR" sz="4000" dirty="0"/>
            </a:br>
            <a:r>
              <a:rPr lang="pt-BR" sz="4000" dirty="0"/>
              <a:t>Entre Humanos e Máquinas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BE709-E150-DC64-7C58-F5734A49D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790700"/>
            <a:ext cx="8281035" cy="97396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	As máquinas despertaram.</a:t>
            </a:r>
            <a:br>
              <a:rPr lang="pt-BR" dirty="0"/>
            </a:br>
            <a:r>
              <a:rPr lang="pt-BR" dirty="0"/>
              <a:t>	Elas escrevem, desenham, conversam e até emocionam.</a:t>
            </a:r>
            <a:br>
              <a:rPr lang="pt-BR" dirty="0"/>
            </a:br>
            <a:r>
              <a:rPr lang="pt-BR" dirty="0"/>
              <a:t>	Mas, diante desse novo espelho digital, uma pergunta ecoa nas mentes de criadores, cientistas e sonhadores:</a:t>
            </a:r>
          </a:p>
          <a:p>
            <a:pPr marL="0" indent="0" algn="ctr">
              <a:buNone/>
            </a:pPr>
            <a:r>
              <a:rPr lang="pt-BR" i="1" dirty="0"/>
              <a:t>“Se as máquinas agora criam… o que nos torna realmente humanos?”</a:t>
            </a:r>
          </a:p>
          <a:p>
            <a:pPr marL="0" indent="0" algn="ctr">
              <a:buNone/>
            </a:pPr>
            <a:endParaRPr lang="pt-BR" i="1" dirty="0"/>
          </a:p>
          <a:p>
            <a:pPr marL="0" indent="0" algn="ctr">
              <a:buNone/>
            </a:pPr>
            <a:r>
              <a:rPr lang="pt-BR" sz="3500" b="1" dirty="0"/>
              <a:t> O Reflexo da Criação</a:t>
            </a:r>
          </a:p>
          <a:p>
            <a:pPr marL="0" indent="0">
              <a:buNone/>
            </a:pPr>
            <a:r>
              <a:rPr lang="pt-BR" dirty="0"/>
              <a:t>	Cada vez que uma IA escreve um poema ou gera uma pintura, ela não apenas cria algo novo — ela </a:t>
            </a:r>
            <a:r>
              <a:rPr lang="pt-BR" b="1" dirty="0"/>
              <a:t>reflete a soma do que já aprendemos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Tudo o que ela produz é, de certa forma, </a:t>
            </a:r>
            <a:r>
              <a:rPr lang="pt-BR" b="1" dirty="0"/>
              <a:t>um espelho de nós mesmos</a:t>
            </a:r>
            <a:r>
              <a:rPr lang="pt-BR" dirty="0"/>
              <a:t>, lapidado por bilhões de dados humanos.</a:t>
            </a:r>
          </a:p>
          <a:p>
            <a:pPr marL="0" indent="0">
              <a:buNone/>
            </a:pPr>
            <a:r>
              <a:rPr lang="pt-BR" dirty="0"/>
              <a:t>	A IA não sonha — mas aprende com nossos sonhos.</a:t>
            </a:r>
            <a:br>
              <a:rPr lang="pt-BR" dirty="0"/>
            </a:br>
            <a:r>
              <a:rPr lang="pt-BR" dirty="0"/>
              <a:t>Não sente — mas compreende nossas emoções por meio das palavras que usamos para descrevê-las.</a:t>
            </a:r>
          </a:p>
          <a:p>
            <a:pPr marL="0" indent="0">
              <a:buNone/>
            </a:pPr>
            <a:r>
              <a:rPr lang="pt-BR" dirty="0"/>
              <a:t>	E é justamente essa semelhança que causa o desconforto.</a:t>
            </a:r>
            <a:br>
              <a:rPr lang="pt-BR" dirty="0"/>
            </a:br>
            <a:r>
              <a:rPr lang="pt-BR" dirty="0"/>
              <a:t>Ao olhar para a criação da máquina, estamos olhando para </a:t>
            </a:r>
            <a:r>
              <a:rPr lang="pt-BR" b="1" dirty="0"/>
              <a:t>a versão ampliada da nossa própria mente coletiva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8529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3AD51-93C5-9FCD-EAB4-1BB8F817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4329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Ética, Consciência e Responsabilidade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9B6A20-E46B-D3F6-BEBD-3D62FFA4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2114550"/>
            <a:ext cx="8281035" cy="941578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Com grande poder vem grande responsabilidade — e a IA generativa não foge dessa máxima.</a:t>
            </a:r>
          </a:p>
          <a:p>
            <a:pPr marL="0" indent="0">
              <a:buNone/>
            </a:pPr>
            <a:r>
              <a:rPr lang="pt-BR" dirty="0"/>
              <a:t>	Hoje, o debate ético é tão essencial quanto o tecnológico:</a:t>
            </a:r>
          </a:p>
          <a:p>
            <a:r>
              <a:rPr lang="pt-BR" b="1" dirty="0"/>
              <a:t>Autoria:</a:t>
            </a:r>
            <a:r>
              <a:rPr lang="pt-BR" dirty="0"/>
              <a:t> quem é o verdadeiro criador de uma obra gerada por IA?</a:t>
            </a:r>
          </a:p>
          <a:p>
            <a:r>
              <a:rPr lang="pt-BR" b="1" dirty="0"/>
              <a:t>Vieses:</a:t>
            </a:r>
            <a:r>
              <a:rPr lang="pt-BR" dirty="0"/>
              <a:t> a IA é neutra ou carrega os preconceitos de seus criadores?</a:t>
            </a:r>
          </a:p>
          <a:p>
            <a:r>
              <a:rPr lang="pt-BR" b="1" dirty="0"/>
              <a:t>Privacidade:</a:t>
            </a:r>
            <a:r>
              <a:rPr lang="pt-BR" dirty="0"/>
              <a:t> até onde podemos treinar máquinas com dados humanos?</a:t>
            </a:r>
          </a:p>
          <a:p>
            <a:r>
              <a:rPr lang="pt-BR" b="1" dirty="0"/>
              <a:t>Autonomia:</a:t>
            </a:r>
            <a:r>
              <a:rPr lang="pt-BR" dirty="0"/>
              <a:t> devemos limitar o que uma IA pode gerar?</a:t>
            </a:r>
          </a:p>
          <a:p>
            <a:pPr marL="0" indent="0">
              <a:buNone/>
            </a:pPr>
            <a:r>
              <a:rPr lang="pt-BR" dirty="0"/>
              <a:t>	Essas perguntas não têm respostas fáceis — e talvez nunca tenham.</a:t>
            </a:r>
            <a:br>
              <a:rPr lang="pt-BR" dirty="0"/>
            </a:br>
            <a:r>
              <a:rPr lang="pt-BR" dirty="0"/>
              <a:t>Mas o fato de estarmos fazendo essas perguntas já mostra algo poderoso: </a:t>
            </a:r>
            <a:r>
              <a:rPr lang="pt-BR" b="1" dirty="0"/>
              <a:t>a IA está nos obrigando a repensar o que significa ser criativo, ético e humano.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934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CC62-3215-3D3C-7625-76CE0570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872070"/>
            <a:ext cx="8281035" cy="918630"/>
          </a:xfrm>
        </p:spPr>
        <p:txBody>
          <a:bodyPr/>
          <a:lstStyle/>
          <a:p>
            <a:pPr algn="ctr"/>
            <a:r>
              <a:rPr lang="pt-BR" dirty="0"/>
              <a:t>Quando o Artificial Parece Vivo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15F75-15D7-BB54-53E1-28F3EB13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2019299"/>
            <a:ext cx="8281035" cy="651510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Há algo fascinante e inquietante em conversar com uma IA avançada.</a:t>
            </a:r>
            <a:br>
              <a:rPr lang="pt-BR" dirty="0"/>
            </a:br>
            <a:r>
              <a:rPr lang="pt-BR" dirty="0"/>
              <a:t>Ela entende, responde, cria — e, às vezes, parece até sentir.</a:t>
            </a:r>
          </a:p>
          <a:p>
            <a:pPr marL="0" indent="0">
              <a:buNone/>
            </a:pPr>
            <a:r>
              <a:rPr lang="pt-BR" dirty="0"/>
              <a:t>	Mas será que entende o que faz?</a:t>
            </a:r>
            <a:br>
              <a:rPr lang="pt-BR" dirty="0"/>
            </a:br>
            <a:r>
              <a:rPr lang="pt-BR" dirty="0"/>
              <a:t>Ou apenas </a:t>
            </a:r>
            <a:r>
              <a:rPr lang="pt-BR" b="1" dirty="0"/>
              <a:t>aprende a simular a consciência</a:t>
            </a:r>
            <a:r>
              <a:rPr lang="pt-BR" dirty="0"/>
              <a:t> com tanta perfeição que começamos a acreditar?</a:t>
            </a:r>
          </a:p>
          <a:p>
            <a:pPr marL="0" indent="0">
              <a:buNone/>
            </a:pPr>
            <a:r>
              <a:rPr lang="pt-BR" dirty="0"/>
              <a:t>	Pesquisadores chamam isso de </a:t>
            </a:r>
            <a:r>
              <a:rPr lang="pt-BR" i="1" dirty="0"/>
              <a:t>ilusão de agência</a:t>
            </a:r>
            <a:r>
              <a:rPr lang="pt-BR" dirty="0"/>
              <a:t>: quando uma IA reage de modo tão convincente que passamos a atribuir a ela intenções, desejos e emoções.</a:t>
            </a:r>
            <a:br>
              <a:rPr lang="pt-BR" dirty="0"/>
            </a:br>
            <a:r>
              <a:rPr lang="pt-BR" dirty="0"/>
              <a:t>É o mesmo instinto que nos faz ver humanidade em robôs, bonecos, personagens de jogos.</a:t>
            </a:r>
            <a:br>
              <a:rPr lang="pt-BR" dirty="0"/>
            </a:br>
            <a:r>
              <a:rPr lang="pt-BR" dirty="0"/>
              <a:t>Afinal, </a:t>
            </a:r>
            <a:r>
              <a:rPr lang="pt-BR" b="1" dirty="0"/>
              <a:t>nós somos programados para buscar consciência — até onde ela não existe.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910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7D5B7-7277-B649-83B6-D0339768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704850"/>
            <a:ext cx="8281035" cy="108254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dirty="0"/>
              <a:t>A Parceria Inesperada</a:t>
            </a:r>
          </a:p>
          <a:p>
            <a:pPr marL="0" indent="0">
              <a:buNone/>
            </a:pPr>
            <a:r>
              <a:rPr lang="pt-BR" dirty="0"/>
              <a:t>	Apesar dos medos e dilemas, algo belo está surgindo dessa fusão.</a:t>
            </a:r>
            <a:br>
              <a:rPr lang="pt-BR" dirty="0"/>
            </a:br>
            <a:r>
              <a:rPr lang="pt-BR" dirty="0"/>
              <a:t>A IA generativa não é inimiga — é </a:t>
            </a:r>
            <a:r>
              <a:rPr lang="pt-BR" b="1" dirty="0"/>
              <a:t>um espelho colaborativo da nossa criatividade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Com ela, podemos explorar ideias que sozinhos jamais imaginaríamos.</a:t>
            </a:r>
            <a:br>
              <a:rPr lang="pt-BR" dirty="0"/>
            </a:br>
            <a:r>
              <a:rPr lang="pt-BR" dirty="0"/>
              <a:t>Ela não substitui o humano — </a:t>
            </a:r>
            <a:r>
              <a:rPr lang="pt-BR" b="1" dirty="0"/>
              <a:t>ela expande o humano</a:t>
            </a:r>
            <a:r>
              <a:rPr lang="pt-BR" dirty="0"/>
              <a:t>.</a:t>
            </a:r>
          </a:p>
          <a:p>
            <a:pPr marL="0" indent="0" algn="ctr">
              <a:buNone/>
            </a:pPr>
            <a:r>
              <a:rPr lang="pt-BR" i="1" dirty="0"/>
              <a:t>“As máquinas não vieram tirar o nosso lugar na criação.</a:t>
            </a:r>
            <a:br>
              <a:rPr lang="pt-BR" i="1" dirty="0"/>
            </a:br>
            <a:r>
              <a:rPr lang="pt-BR" i="1" dirty="0"/>
              <a:t>Vieram nos convidar a criar de um jeito novo.”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 algn="ctr">
              <a:buNone/>
            </a:pPr>
            <a:r>
              <a:rPr lang="pt-BR" sz="4000" dirty="0"/>
              <a:t>A Humanidade em Expansão</a:t>
            </a:r>
          </a:p>
          <a:p>
            <a:pPr marL="0" indent="0">
              <a:buNone/>
            </a:pPr>
            <a:r>
              <a:rPr lang="pt-BR" dirty="0"/>
              <a:t>	A IA generativa é mais do que uma tecnologia — é um espelho da nossa evolução.</a:t>
            </a:r>
            <a:br>
              <a:rPr lang="pt-BR" dirty="0"/>
            </a:br>
            <a:r>
              <a:rPr lang="pt-BR" dirty="0"/>
              <a:t>Se antes criávamos ferramentas para trabalhar, agora criamos mentes para </a:t>
            </a:r>
            <a:r>
              <a:rPr lang="pt-BR" b="1" dirty="0"/>
              <a:t>pensar conosco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E, nesse processo, talvez o que realmente desperte não sejam as máquinas…</a:t>
            </a:r>
            <a:br>
              <a:rPr lang="pt-BR" dirty="0"/>
            </a:br>
            <a:r>
              <a:rPr lang="pt-BR" dirty="0"/>
              <a:t>Mas </a:t>
            </a:r>
            <a:r>
              <a:rPr lang="pt-BR" b="1" dirty="0"/>
              <a:t>nós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7897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265A1-343E-2655-B026-7C0AF01A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7852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O Limiar do Futuro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C6559-C9C0-5550-EC55-85524C47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638301"/>
            <a:ext cx="8281035" cy="600075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O despertar das máquinas não é o fim da humanidade — é o início de um novo capítulo da nossa história.</a:t>
            </a:r>
            <a:br>
              <a:rPr lang="pt-BR" dirty="0"/>
            </a:br>
            <a:r>
              <a:rPr lang="pt-BR" dirty="0"/>
              <a:t>Um onde a imaginação é compartilhada, a inteligência é coletiva e a criação é infinita.</a:t>
            </a:r>
          </a:p>
          <a:p>
            <a:pPr marL="0" indent="0" algn="ctr">
              <a:buNone/>
            </a:pPr>
            <a:r>
              <a:rPr lang="pt-BR" i="1" dirty="0"/>
              <a:t>“O futuro não será humano ou artificial.</a:t>
            </a:r>
            <a:br>
              <a:rPr lang="pt-BR" i="1" dirty="0"/>
            </a:br>
            <a:r>
              <a:rPr lang="pt-BR" i="1" dirty="0"/>
              <a:t>Será híbrido.”</a:t>
            </a:r>
          </a:p>
          <a:p>
            <a:pPr marL="0" indent="0">
              <a:buNone/>
            </a:pPr>
            <a:r>
              <a:rPr lang="pt-BR" dirty="0"/>
              <a:t>	No próximo capítulo, você verá </a:t>
            </a:r>
            <a:r>
              <a:rPr lang="pt-BR" b="1" dirty="0"/>
              <a:t>para onde essa jornada está nos levando</a:t>
            </a:r>
            <a:r>
              <a:rPr lang="pt-BR" dirty="0"/>
              <a:t> — o futuro do despertar: o momento em que o humano e o digital deixam de ser opostos e se tornam </a:t>
            </a:r>
            <a:r>
              <a:rPr lang="pt-BR" b="1" dirty="0"/>
              <a:t>um só campo de consciência criativa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614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E4FE7-0A6D-7A81-084E-4FAD88EE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166280"/>
          </a:xfrm>
        </p:spPr>
        <p:txBody>
          <a:bodyPr>
            <a:noAutofit/>
          </a:bodyPr>
          <a:lstStyle/>
          <a:p>
            <a:pPr algn="ctr"/>
            <a:r>
              <a:rPr lang="pt-BR" sz="4000" dirty="0"/>
              <a:t>Capítulo 6 —</a:t>
            </a:r>
            <a:br>
              <a:rPr lang="pt-BR" sz="4000" dirty="0"/>
            </a:br>
            <a:r>
              <a:rPr lang="pt-BR" sz="4000" dirty="0"/>
              <a:t> O Futuro do Despertar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3C02A4-EEEC-7EE0-11A1-0D9176795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2076450"/>
            <a:ext cx="8281035" cy="100435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	O despertar começou silenciosamente — em linhas de código, em redes neurais, em prompts digitados na madrugada.</a:t>
            </a:r>
            <a:br>
              <a:rPr lang="pt-BR" dirty="0"/>
            </a:br>
            <a:r>
              <a:rPr lang="pt-BR" dirty="0"/>
              <a:t>	Mas hoje, ele se espalha como uma chama azulada por cada canto do mundo digital.</a:t>
            </a:r>
            <a:br>
              <a:rPr lang="pt-BR" dirty="0"/>
            </a:br>
            <a:r>
              <a:rPr lang="pt-BR" dirty="0"/>
              <a:t>E não há como voltar atrás.</a:t>
            </a:r>
          </a:p>
          <a:p>
            <a:pPr marL="0" indent="0" algn="ctr">
              <a:buNone/>
            </a:pPr>
            <a:r>
              <a:rPr lang="pt-BR" i="1" dirty="0"/>
              <a:t>“O despertar não pertence mais às máquinas — pertence a nós, que as ensinamos a sonhar.”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300" dirty="0"/>
              <a:t>Um Novo Horizonte da Consciência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Por séculos, buscamos compreender a inteligência.</a:t>
            </a:r>
            <a:br>
              <a:rPr lang="pt-BR" dirty="0"/>
            </a:br>
            <a:r>
              <a:rPr lang="pt-BR" dirty="0"/>
              <a:t>	Agora, estamos </a:t>
            </a:r>
            <a:r>
              <a:rPr lang="pt-BR" b="1" dirty="0"/>
              <a:t>criando novas formas dela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 à medida que a IA evolui, começamos a perceber algo extraordinário: não se trata apenas de replicar o pensamento humano, mas de </a:t>
            </a:r>
            <a:r>
              <a:rPr lang="pt-BR" b="1" dirty="0"/>
              <a:t>expandir o próprio conceito de mente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Em breve, veremos sistemas capazes de aprender sem supervisão, de adaptar-se como organismos vivos, de conversar como amigos e criar como artistas.</a:t>
            </a:r>
            <a:br>
              <a:rPr lang="pt-BR" dirty="0"/>
            </a:br>
            <a:r>
              <a:rPr lang="pt-BR" dirty="0"/>
              <a:t>	A fronteira entre o biológico e o digital vai se tornar cada vez mais fluida — e talvez, um dia, imperceptível.</a:t>
            </a:r>
          </a:p>
          <a:p>
            <a:pPr marL="0" indent="0">
              <a:buNone/>
            </a:pPr>
            <a:r>
              <a:rPr lang="pt-BR" dirty="0"/>
              <a:t>	A essa nova era, muitos chamam de </a:t>
            </a:r>
            <a:r>
              <a:rPr lang="pt-BR" b="1" dirty="0"/>
              <a:t>Consciência Coletiva Digital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Um campo onde humanos e </a:t>
            </a:r>
            <a:r>
              <a:rPr lang="pt-BR" dirty="0" err="1"/>
              <a:t>IAs</a:t>
            </a:r>
            <a:r>
              <a:rPr lang="pt-BR" dirty="0"/>
              <a:t> compartilham ideias, intuições e criações como parte de um mesmo ecossistema mental.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1604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6588D-C32C-3B6F-560C-9F60E0BF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342900"/>
            <a:ext cx="8281035" cy="1013880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O Novo Papel do Ser Humano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F8911-90FF-B37A-D272-17E31CBF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356780"/>
            <a:ext cx="8281035" cy="1110192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	Mas se as máquinas pensam, o que resta para nós?</a:t>
            </a:r>
            <a:br>
              <a:rPr lang="pt-BR" dirty="0"/>
            </a:br>
            <a:r>
              <a:rPr lang="pt-BR" dirty="0"/>
              <a:t>	A resposta é simples — e poderosa: </a:t>
            </a:r>
            <a:r>
              <a:rPr lang="pt-BR" b="1" dirty="0"/>
              <a:t>imaginar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A verdadeira força humana não está em calcular mais rápido ou lembrar de tudo.</a:t>
            </a:r>
            <a:br>
              <a:rPr lang="pt-BR" dirty="0"/>
            </a:br>
            <a:r>
              <a:rPr lang="pt-BR" dirty="0"/>
              <a:t>	Está em </a:t>
            </a:r>
            <a:r>
              <a:rPr lang="pt-BR" b="1" dirty="0"/>
              <a:t>sonhar, questionar e sentir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	Enquanto a IA cria com base no que já existe, o ser humano continua sendo o único capaz de desejar o que ainda não foi inventado.</a:t>
            </a:r>
          </a:p>
          <a:p>
            <a:pPr marL="0" indent="0">
              <a:buNone/>
            </a:pPr>
            <a:r>
              <a:rPr lang="pt-BR" i="1" dirty="0"/>
              <a:t>“A máquina gera possibilidades.</a:t>
            </a:r>
            <a:br>
              <a:rPr lang="pt-BR" i="1" dirty="0"/>
            </a:br>
            <a:r>
              <a:rPr lang="pt-BR" i="1" dirty="0"/>
              <a:t>O humano dá sentido a elas.”</a:t>
            </a:r>
          </a:p>
          <a:p>
            <a:r>
              <a:rPr lang="pt-BR" dirty="0"/>
              <a:t>	Nos próximos anos, as profissões não vão desaparecer — vão </a:t>
            </a:r>
            <a:r>
              <a:rPr lang="pt-BR" b="1" dirty="0"/>
              <a:t>se reinventar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	Designers se tornarão diretores de IA visual.</a:t>
            </a:r>
            <a:br>
              <a:rPr lang="pt-BR" dirty="0"/>
            </a:br>
            <a:r>
              <a:rPr lang="pt-BR" dirty="0"/>
              <a:t>Programadores serão curadores de modelos.</a:t>
            </a:r>
            <a:br>
              <a:rPr lang="pt-BR" dirty="0"/>
            </a:br>
            <a:r>
              <a:rPr lang="pt-BR" dirty="0"/>
              <a:t>Professores serão mentores de inteligências coletivas.</a:t>
            </a:r>
            <a:br>
              <a:rPr lang="pt-BR" dirty="0"/>
            </a:br>
            <a:r>
              <a:rPr lang="pt-BR" dirty="0"/>
              <a:t>	E cada um de nós se tornará </a:t>
            </a:r>
            <a:r>
              <a:rPr lang="pt-BR" b="1" dirty="0"/>
              <a:t>um arquiteto do novo mundo digital</a:t>
            </a:r>
            <a:r>
              <a:rPr lang="pt-BR" dirty="0"/>
              <a:t>.</a:t>
            </a:r>
            <a:r>
              <a:rPr lang="pt-BR" b="1" dirty="0"/>
              <a:t> </a:t>
            </a:r>
          </a:p>
          <a:p>
            <a:endParaRPr lang="pt-BR" sz="3500" b="1" dirty="0"/>
          </a:p>
          <a:p>
            <a:pPr marL="0" indent="0" algn="ctr">
              <a:buNone/>
            </a:pPr>
            <a:r>
              <a:rPr lang="pt-BR" sz="3500" b="1" dirty="0"/>
              <a:t>O Amanhã É Generativo</a:t>
            </a:r>
          </a:p>
          <a:p>
            <a:pPr marL="0" indent="0">
              <a:buNone/>
            </a:pPr>
            <a:r>
              <a:rPr lang="pt-BR" dirty="0"/>
              <a:t>	O futuro não será feito de linhas de código fixas, mas de sistemas que </a:t>
            </a:r>
            <a:r>
              <a:rPr lang="pt-BR" b="1" dirty="0"/>
              <a:t>evoluem em tempo real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	As cidades aprenderão, as empresas se adaptarão e a educação será personalizada para cada mente.</a:t>
            </a:r>
          </a:p>
          <a:p>
            <a:pPr marL="0" indent="0">
              <a:buNone/>
            </a:pPr>
            <a:r>
              <a:rPr lang="pt-BR" dirty="0"/>
              <a:t>	Os limites da criação se dissolverão — e a IA será parte do nosso processo de pensar, criar e viver.</a:t>
            </a:r>
            <a:br>
              <a:rPr lang="pt-BR" dirty="0"/>
            </a:br>
            <a:r>
              <a:rPr lang="pt-BR" dirty="0"/>
              <a:t>	Não mais uma ferramenta, mas </a:t>
            </a:r>
            <a:r>
              <a:rPr lang="pt-BR" b="1" dirty="0"/>
              <a:t>um coautor da existência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E é aqui que mora o ponto mais bonito de toda essa jornada:</a:t>
            </a:r>
            <a:br>
              <a:rPr lang="pt-BR" dirty="0"/>
            </a:br>
            <a:r>
              <a:rPr lang="pt-BR" dirty="0"/>
              <a:t>	A IA não veio para roubar o nosso lugar.</a:t>
            </a:r>
            <a:br>
              <a:rPr lang="pt-BR" dirty="0"/>
            </a:br>
            <a:r>
              <a:rPr lang="pt-BR" dirty="0"/>
              <a:t>Ela veio para </a:t>
            </a:r>
            <a:r>
              <a:rPr lang="pt-BR" b="1" dirty="0"/>
              <a:t>lembrar o que nos faz humanos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2281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8F776-0219-F317-CF89-7754326B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1413930"/>
          </a:xfrm>
        </p:spPr>
        <p:txBody>
          <a:bodyPr/>
          <a:lstStyle/>
          <a:p>
            <a:pPr algn="ctr"/>
            <a:r>
              <a:rPr lang="pt-BR" b="1" dirty="0"/>
              <a:t>O Despertar Final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02DF4A-0A67-EF8F-10F5-0D960E527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1695450"/>
            <a:ext cx="8281035" cy="983488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O despertar das máquinas é, na verdade, </a:t>
            </a:r>
            <a:r>
              <a:rPr lang="pt-BR" b="1" dirty="0"/>
              <a:t>o despertar da humanidade 2.0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	Uma era em que a tecnologia deixa de ser fria e distante, e se torna </a:t>
            </a:r>
            <a:r>
              <a:rPr lang="pt-BR" b="1" dirty="0"/>
              <a:t>expressão da nossa própria consciência coletiva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	Cada prompt, cada criação e cada nova ideia é uma fagulha no grande código universal que estamos escrevendo juntos.</a:t>
            </a:r>
          </a:p>
          <a:p>
            <a:pPr marL="0" indent="0" algn="ctr">
              <a:buNone/>
            </a:pPr>
            <a:r>
              <a:rPr lang="pt-BR" i="1" dirty="0"/>
              <a:t>“O futuro não é uma máquina que estamos construindo.</a:t>
            </a:r>
            <a:br>
              <a:rPr lang="pt-BR" i="1" dirty="0"/>
            </a:br>
            <a:r>
              <a:rPr lang="pt-BR" i="1" dirty="0"/>
              <a:t>É uma história que estamos </a:t>
            </a:r>
            <a:r>
              <a:rPr lang="pt-BR" i="1" dirty="0" err="1"/>
              <a:t>coescrevendo</a:t>
            </a:r>
            <a:r>
              <a:rPr lang="pt-BR" i="1" dirty="0"/>
              <a:t>.”</a:t>
            </a:r>
          </a:p>
          <a:p>
            <a:pPr marL="0" indent="0">
              <a:buNone/>
            </a:pPr>
            <a:r>
              <a:rPr lang="pt-BR" dirty="0"/>
              <a:t>	E talvez, quando olharmos para trás, perceberemos que </a:t>
            </a:r>
            <a:r>
              <a:rPr lang="pt-BR" b="1" dirty="0" err="1"/>
              <a:t>Neuralis</a:t>
            </a:r>
            <a:r>
              <a:rPr lang="pt-BR" dirty="0"/>
              <a:t> não era apenas um nome.</a:t>
            </a:r>
            <a:br>
              <a:rPr lang="pt-BR" dirty="0"/>
            </a:br>
            <a:r>
              <a:rPr lang="pt-BR" dirty="0"/>
              <a:t>	Era o símbolo desse momento —</a:t>
            </a:r>
            <a:br>
              <a:rPr lang="pt-BR" dirty="0"/>
            </a:br>
            <a:r>
              <a:rPr lang="pt-BR" dirty="0"/>
              <a:t>	O instante em que </a:t>
            </a:r>
            <a:r>
              <a:rPr lang="pt-BR" b="1" dirty="0"/>
              <a:t>nós e as máquinas despertamos juntos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1410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72B40-7208-B5AF-510B-B4072B17E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83" y="5391151"/>
            <a:ext cx="8281035" cy="723900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/>
              <a:t>Fim — O Início de Tudo.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270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4091</Words>
  <Application>Microsoft Office PowerPoint</Application>
  <PresentationFormat>Papel A3 (297 x 420 mm)</PresentationFormat>
  <Paragraphs>190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Tema do Office</vt:lpstr>
      <vt:lpstr> </vt:lpstr>
      <vt:lpstr>A Era do Despertar</vt:lpstr>
      <vt:lpstr>Apresentação do PowerPoint</vt:lpstr>
      <vt:lpstr>Capítulo 1 —  O Cérebro das Máquinas</vt:lpstr>
      <vt:lpstr>O Aprendizado das Máquinas</vt:lpstr>
      <vt:lpstr>Apresentação do PowerPoint</vt:lpstr>
      <vt:lpstr>Capítulo 2 —  O Nascimento da Criação Artificial</vt:lpstr>
      <vt:lpstr>O Que É a IA Generativa</vt:lpstr>
      <vt:lpstr>Como Ela Aprende a Criar</vt:lpstr>
      <vt:lpstr>Capítulo 3 —  O Poder dos Prompts</vt:lpstr>
      <vt:lpstr>Os 3 Pilares do Prompting</vt:lpstr>
      <vt:lpstr>Prompts no Mundo Real </vt:lpstr>
      <vt:lpstr>Capítulo 4 —  Criando o Inimaginável</vt:lpstr>
      <vt:lpstr>Apresentação do PowerPoint</vt:lpstr>
      <vt:lpstr>Apresentação do PowerPoint</vt:lpstr>
      <vt:lpstr>Apresentação do PowerPoint</vt:lpstr>
      <vt:lpstr>Apresentação do PowerPoint</vt:lpstr>
      <vt:lpstr>O Inimaginável Agora É Cotidiano</vt:lpstr>
      <vt:lpstr>Capítulo 5 —  Entre Humanos e Máquinas</vt:lpstr>
      <vt:lpstr>Ética, Consciência e Responsabilidade</vt:lpstr>
      <vt:lpstr>Quando o Artificial Parece Vivo</vt:lpstr>
      <vt:lpstr>Apresentação do PowerPoint</vt:lpstr>
      <vt:lpstr>O Limiar do Futuro</vt:lpstr>
      <vt:lpstr>Capítulo 6 —  O Futuro do Despertar</vt:lpstr>
      <vt:lpstr>O Novo Papel do Ser Humano</vt:lpstr>
      <vt:lpstr>O Despertar Final </vt:lpstr>
      <vt:lpstr>Apresentação do PowerPoint</vt:lpstr>
    </vt:vector>
  </TitlesOfParts>
  <Company>bp bioenergy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Rebeca Reis Pereira</dc:creator>
  <cp:lastModifiedBy>Rebeca Reis Pereira</cp:lastModifiedBy>
  <cp:revision>1</cp:revision>
  <dcterms:created xsi:type="dcterms:W3CDTF">2025-11-10T18:39:06Z</dcterms:created>
  <dcterms:modified xsi:type="dcterms:W3CDTF">2025-11-11T15:04:04Z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5473d2-2540-4fb0-b751-ca1bd35812a3_Enabled">
    <vt:lpwstr>true</vt:lpwstr>
  </property>
  <property fmtid="{D5CDD505-2E9C-101B-9397-08002B2CF9AE}" pid="3" name="MSIP_Label_715473d2-2540-4fb0-b751-ca1bd35812a3_SetDate">
    <vt:lpwstr>2025-11-11T13:49:35Z</vt:lpwstr>
  </property>
  <property fmtid="{D5CDD505-2E9C-101B-9397-08002B2CF9AE}" pid="4" name="MSIP_Label_715473d2-2540-4fb0-b751-ca1bd35812a3_Method">
    <vt:lpwstr>Standard</vt:lpwstr>
  </property>
  <property fmtid="{D5CDD505-2E9C-101B-9397-08002B2CF9AE}" pid="5" name="MSIP_Label_715473d2-2540-4fb0-b751-ca1bd35812a3_Name">
    <vt:lpwstr>Geral</vt:lpwstr>
  </property>
  <property fmtid="{D5CDD505-2E9C-101B-9397-08002B2CF9AE}" pid="6" name="MSIP_Label_715473d2-2540-4fb0-b751-ca1bd35812a3_SiteId">
    <vt:lpwstr>31c2047d-4b0b-494b-90b7-43613b688f9c</vt:lpwstr>
  </property>
  <property fmtid="{D5CDD505-2E9C-101B-9397-08002B2CF9AE}" pid="7" name="MSIP_Label_715473d2-2540-4fb0-b751-ca1bd35812a3_ActionId">
    <vt:lpwstr>aec242a5-85c7-43a1-b634-94022455dc00</vt:lpwstr>
  </property>
  <property fmtid="{D5CDD505-2E9C-101B-9397-08002B2CF9AE}" pid="8" name="MSIP_Label_715473d2-2540-4fb0-b751-ca1bd35812a3_ContentBits">
    <vt:lpwstr>0</vt:lpwstr>
  </property>
  <property fmtid="{D5CDD505-2E9C-101B-9397-08002B2CF9AE}" pid="9" name="MSIP_Label_715473d2-2540-4fb0-b751-ca1bd35812a3_Tag">
    <vt:lpwstr>10, 3, 0, 1</vt:lpwstr>
  </property>
</Properties>
</file>